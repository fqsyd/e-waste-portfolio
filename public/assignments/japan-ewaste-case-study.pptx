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E78A74D-AEBF-4F03-9E23-D40E47B6A5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5E0FB5-574A-4532-9E3D-2A23D58EA7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8F8C85-D777-4AB1-8423-541F00DDDF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3CB3C4-0F4B-4F3D-9C00-BBA2C8592F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9DB685-D3D4-4BE1-9D24-C0E58D7169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35CCB4-3189-4794-B4B8-DFDBBB5C08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4F4A08-5C60-4574-B15C-6A243033AE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E4CD1B-4B23-47C9-B783-D3722DDEAC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62DAA7-F5F3-4679-B1CA-02E8EE3B19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B41395-5374-4B9E-946B-E6C67401AC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2B97F7-3875-4D58-B230-3BED061C99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94C9B0-6367-44F2-851A-525DEF0DF4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85032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85032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01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850320" y="749880"/>
            <a:ext cx="5120280" cy="29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JAPAN’S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E-WASTE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MANAGEMENT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SYSTEM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868680" y="3913560"/>
            <a:ext cx="960120" cy="360"/>
          </a:xfrm>
          <a:prstGeom prst="line">
            <a:avLst/>
          </a:prstGeom>
          <a:ln w="381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868680" y="409644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Recycling, Resource Recovery &amp; Lessons for India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868680" y="58338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150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SAYALI ANDHALE  24101A0024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868680" y="612648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TE INFT (A)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7346160" y="791640"/>
            <a:ext cx="243360" cy="53028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 flipH="1">
            <a:off x="7485120" y="1321920"/>
            <a:ext cx="104400" cy="53064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7485120" y="1852560"/>
            <a:ext cx="555840" cy="47700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 flipH="1">
            <a:off x="7902000" y="2329560"/>
            <a:ext cx="138960" cy="63648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7902000" y="2966040"/>
            <a:ext cx="556200" cy="53028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 flipH="1">
            <a:off x="8318880" y="3496320"/>
            <a:ext cx="139320" cy="58356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8318880" y="4079880"/>
            <a:ext cx="486720" cy="42444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 flipH="1">
            <a:off x="8701200" y="4504320"/>
            <a:ext cx="104400" cy="63612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8701200" y="5140440"/>
            <a:ext cx="521280" cy="53064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 flipV="1">
            <a:off x="9222480" y="5246640"/>
            <a:ext cx="208440" cy="42444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 flipH="1" flipV="1">
            <a:off x="9153000" y="4663440"/>
            <a:ext cx="277920" cy="58320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 flipV="1">
            <a:off x="9153000" y="4026960"/>
            <a:ext cx="104040" cy="63648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 flipH="1" flipV="1">
            <a:off x="8840160" y="3602520"/>
            <a:ext cx="416880" cy="42444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 flipV="1">
            <a:off x="8840160" y="2966040"/>
            <a:ext cx="104400" cy="63648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 flipH="1" flipV="1">
            <a:off x="8458200" y="2488680"/>
            <a:ext cx="486360" cy="47736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 flipV="1">
            <a:off x="8458200" y="1905480"/>
            <a:ext cx="69480" cy="58320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 flipH="1" flipV="1">
            <a:off x="8040960" y="1428120"/>
            <a:ext cx="486720" cy="47736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 flipH="1" flipV="1">
            <a:off x="7902000" y="897840"/>
            <a:ext cx="138960" cy="530280"/>
          </a:xfrm>
          <a:prstGeom prst="line">
            <a:avLst/>
          </a:prstGeom>
          <a:ln w="1524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5806440" y="1097280"/>
            <a:ext cx="1325520" cy="2422800"/>
          </a:xfrm>
          <a:prstGeom prst="roundRect">
            <a:avLst>
              <a:gd name="adj" fmla="val 68966"/>
            </a:avLst>
          </a:prstGeom>
          <a:solidFill>
            <a:srgbClr val="05090C"/>
          </a:solidFill>
          <a:ln w="15240">
            <a:solidFill>
              <a:srgbClr val="9AAA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5996240" y="1440540"/>
            <a:ext cx="932760" cy="1791720"/>
          </a:xfrm>
          <a:prstGeom prst="rect">
            <a:avLst/>
          </a:prstGeom>
          <a:solidFill>
            <a:srgbClr val="111C24"/>
          </a:solidFill>
          <a:ln w="1016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6428160" y="3346560"/>
            <a:ext cx="82080" cy="82080"/>
          </a:xfrm>
          <a:prstGeom prst="ellipse">
            <a:avLst/>
          </a:prstGeom>
          <a:solidFill>
            <a:srgbClr val="9AAAB2"/>
          </a:solidFill>
          <a:ln w="12700">
            <a:solidFill>
              <a:srgbClr val="9AAA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2"/>
          <p:cNvSpPr/>
          <p:nvPr/>
        </p:nvSpPr>
        <p:spPr>
          <a:xfrm>
            <a:off x="7360920" y="1444680"/>
            <a:ext cx="1508400" cy="1691280"/>
          </a:xfrm>
          <a:prstGeom prst="rect">
            <a:avLst/>
          </a:prstGeom>
          <a:solidFill>
            <a:srgbClr val="111C24"/>
          </a:solidFill>
          <a:ln w="127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7498080" y="1645920"/>
            <a:ext cx="678600" cy="360"/>
          </a:xfrm>
          <a:prstGeom prst="line">
            <a:avLst/>
          </a:prstGeom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8311320" y="1609200"/>
            <a:ext cx="72720" cy="72720"/>
          </a:xfrm>
          <a:prstGeom prst="ellipse">
            <a:avLst/>
          </a:prstGeom>
          <a:solidFill>
            <a:srgbClr val="0B1117"/>
          </a:solidFill>
          <a:ln w="889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8371440" y="1645920"/>
            <a:ext cx="271800" cy="360"/>
          </a:xfrm>
          <a:prstGeom prst="line">
            <a:avLst/>
          </a:prstGeom>
          <a:ln w="1016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6"/>
          <p:cNvSpPr/>
          <p:nvPr/>
        </p:nvSpPr>
        <p:spPr>
          <a:xfrm>
            <a:off x="7498080" y="1938240"/>
            <a:ext cx="678600" cy="360"/>
          </a:xfrm>
          <a:prstGeom prst="line">
            <a:avLst/>
          </a:prstGeom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7"/>
          <p:cNvSpPr/>
          <p:nvPr/>
        </p:nvSpPr>
        <p:spPr>
          <a:xfrm>
            <a:off x="8311320" y="1901880"/>
            <a:ext cx="72720" cy="72720"/>
          </a:xfrm>
          <a:prstGeom prst="ellipse">
            <a:avLst/>
          </a:prstGeom>
          <a:solidFill>
            <a:srgbClr val="0B1117"/>
          </a:solidFill>
          <a:ln w="889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8"/>
          <p:cNvSpPr/>
          <p:nvPr/>
        </p:nvSpPr>
        <p:spPr>
          <a:xfrm>
            <a:off x="8371440" y="1938240"/>
            <a:ext cx="271800" cy="360"/>
          </a:xfrm>
          <a:prstGeom prst="line">
            <a:avLst/>
          </a:prstGeom>
          <a:ln w="1016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9"/>
          <p:cNvSpPr/>
          <p:nvPr/>
        </p:nvSpPr>
        <p:spPr>
          <a:xfrm>
            <a:off x="7498080" y="2230920"/>
            <a:ext cx="678600" cy="360"/>
          </a:xfrm>
          <a:prstGeom prst="line">
            <a:avLst/>
          </a:prstGeom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0"/>
          <p:cNvSpPr/>
          <p:nvPr/>
        </p:nvSpPr>
        <p:spPr>
          <a:xfrm>
            <a:off x="8311320" y="2194560"/>
            <a:ext cx="72720" cy="72720"/>
          </a:xfrm>
          <a:prstGeom prst="ellipse">
            <a:avLst/>
          </a:prstGeom>
          <a:solidFill>
            <a:srgbClr val="0B1117"/>
          </a:solidFill>
          <a:ln w="889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1"/>
          <p:cNvSpPr/>
          <p:nvPr/>
        </p:nvSpPr>
        <p:spPr>
          <a:xfrm>
            <a:off x="8371440" y="2230920"/>
            <a:ext cx="271800" cy="360"/>
          </a:xfrm>
          <a:prstGeom prst="line">
            <a:avLst/>
          </a:prstGeom>
          <a:ln w="1016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2"/>
          <p:cNvSpPr/>
          <p:nvPr/>
        </p:nvSpPr>
        <p:spPr>
          <a:xfrm>
            <a:off x="7498080" y="2523600"/>
            <a:ext cx="678600" cy="360"/>
          </a:xfrm>
          <a:prstGeom prst="line">
            <a:avLst/>
          </a:prstGeom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3"/>
          <p:cNvSpPr/>
          <p:nvPr/>
        </p:nvSpPr>
        <p:spPr>
          <a:xfrm>
            <a:off x="8311320" y="2487240"/>
            <a:ext cx="72720" cy="72720"/>
          </a:xfrm>
          <a:prstGeom prst="ellipse">
            <a:avLst/>
          </a:prstGeom>
          <a:solidFill>
            <a:srgbClr val="0B1117"/>
          </a:solidFill>
          <a:ln w="889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4"/>
          <p:cNvSpPr/>
          <p:nvPr/>
        </p:nvSpPr>
        <p:spPr>
          <a:xfrm>
            <a:off x="8371440" y="2523600"/>
            <a:ext cx="271800" cy="360"/>
          </a:xfrm>
          <a:prstGeom prst="line">
            <a:avLst/>
          </a:prstGeom>
          <a:ln w="1016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5"/>
          <p:cNvSpPr/>
          <p:nvPr/>
        </p:nvSpPr>
        <p:spPr>
          <a:xfrm>
            <a:off x="7873920" y="2053800"/>
            <a:ext cx="421920" cy="473400"/>
          </a:xfrm>
          <a:prstGeom prst="rect">
            <a:avLst/>
          </a:prstGeom>
          <a:solidFill>
            <a:srgbClr val="0B1117"/>
          </a:solidFill>
          <a:ln w="10160">
            <a:solidFill>
              <a:srgbClr val="9AAA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6"/>
          <p:cNvSpPr/>
          <p:nvPr/>
        </p:nvSpPr>
        <p:spPr>
          <a:xfrm>
            <a:off x="9436680" y="1755720"/>
            <a:ext cx="749520" cy="749520"/>
          </a:xfrm>
          <a:prstGeom prst="ellipse">
            <a:avLst/>
          </a:prstGeom>
          <a:solidFill>
            <a:srgbClr val="111C24"/>
          </a:solidFill>
          <a:ln w="1651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7"/>
          <p:cNvSpPr/>
          <p:nvPr/>
        </p:nvSpPr>
        <p:spPr>
          <a:xfrm>
            <a:off x="10460880" y="1801440"/>
            <a:ext cx="639720" cy="639720"/>
          </a:xfrm>
          <a:prstGeom prst="rect">
            <a:avLst/>
          </a:prstGeom>
          <a:solidFill>
            <a:srgbClr val="0B1117"/>
          </a:solidFill>
          <a:ln w="127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8"/>
          <p:cNvSpPr/>
          <p:nvPr/>
        </p:nvSpPr>
        <p:spPr>
          <a:xfrm>
            <a:off x="7168680" y="2240280"/>
            <a:ext cx="201240" cy="360"/>
          </a:xfrm>
          <a:prstGeom prst="line">
            <a:avLst/>
          </a:prstGeom>
          <a:ln w="1905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9"/>
          <p:cNvSpPr/>
          <p:nvPr/>
        </p:nvSpPr>
        <p:spPr>
          <a:xfrm>
            <a:off x="8897040" y="2240280"/>
            <a:ext cx="493560" cy="360"/>
          </a:xfrm>
          <a:prstGeom prst="line">
            <a:avLst/>
          </a:prstGeom>
          <a:ln w="1905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70"/>
          <p:cNvSpPr/>
          <p:nvPr/>
        </p:nvSpPr>
        <p:spPr>
          <a:xfrm>
            <a:off x="10195560" y="2139480"/>
            <a:ext cx="228600" cy="360"/>
          </a:xfrm>
          <a:prstGeom prst="line">
            <a:avLst/>
          </a:prstGeom>
          <a:ln w="1905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1"/>
          <p:cNvSpPr/>
          <p:nvPr/>
        </p:nvSpPr>
        <p:spPr>
          <a:xfrm>
            <a:off x="5806440" y="3822120"/>
            <a:ext cx="1325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DEVICE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2"/>
          <p:cNvSpPr/>
          <p:nvPr/>
        </p:nvSpPr>
        <p:spPr>
          <a:xfrm>
            <a:off x="7360920" y="3822120"/>
            <a:ext cx="1508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CIRCUIT BOARD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3"/>
          <p:cNvSpPr/>
          <p:nvPr/>
        </p:nvSpPr>
        <p:spPr>
          <a:xfrm>
            <a:off x="8979480" y="382212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MATERIALS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4"/>
          <p:cNvSpPr/>
          <p:nvPr/>
        </p:nvSpPr>
        <p:spPr>
          <a:xfrm>
            <a:off x="10405800" y="3822120"/>
            <a:ext cx="840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RESOURCE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5"/>
          <p:cNvSpPr/>
          <p:nvPr/>
        </p:nvSpPr>
        <p:spPr>
          <a:xfrm>
            <a:off x="5669280" y="4663440"/>
            <a:ext cx="71280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6"/>
          <p:cNvSpPr/>
          <p:nvPr/>
        </p:nvSpPr>
        <p:spPr>
          <a:xfrm>
            <a:off x="5669280" y="4663440"/>
            <a:ext cx="71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GLASS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7"/>
          <p:cNvSpPr/>
          <p:nvPr/>
        </p:nvSpPr>
        <p:spPr>
          <a:xfrm>
            <a:off x="6903720" y="5074920"/>
            <a:ext cx="71280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8"/>
          <p:cNvSpPr/>
          <p:nvPr/>
        </p:nvSpPr>
        <p:spPr>
          <a:xfrm>
            <a:off x="6903720" y="5074920"/>
            <a:ext cx="71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METAL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9"/>
          <p:cNvSpPr/>
          <p:nvPr/>
        </p:nvSpPr>
        <p:spPr>
          <a:xfrm>
            <a:off x="8321040" y="4645080"/>
            <a:ext cx="71280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0"/>
          <p:cNvSpPr/>
          <p:nvPr/>
        </p:nvSpPr>
        <p:spPr>
          <a:xfrm>
            <a:off x="8321040" y="4645080"/>
            <a:ext cx="71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PLASTIC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81"/>
          <p:cNvSpPr/>
          <p:nvPr/>
        </p:nvSpPr>
        <p:spPr>
          <a:xfrm>
            <a:off x="9564480" y="5102280"/>
            <a:ext cx="105120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2"/>
          <p:cNvSpPr/>
          <p:nvPr/>
        </p:nvSpPr>
        <p:spPr>
          <a:xfrm>
            <a:off x="9564480" y="5102280"/>
            <a:ext cx="1051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COMPONENTS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1"/>
          <p:cNvSpPr/>
          <p:nvPr/>
        </p:nvSpPr>
        <p:spPr>
          <a:xfrm>
            <a:off x="85032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2"/>
          <p:cNvSpPr/>
          <p:nvPr/>
        </p:nvSpPr>
        <p:spPr>
          <a:xfrm>
            <a:off x="85032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850320" y="50292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WHEN ELECTRONICS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BECOME WASTE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6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02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7"/>
          <p:cNvSpPr/>
          <p:nvPr/>
        </p:nvSpPr>
        <p:spPr>
          <a:xfrm>
            <a:off x="4782240" y="1600200"/>
            <a:ext cx="1737000" cy="392760"/>
          </a:xfrm>
          <a:prstGeom prst="rect">
            <a:avLst/>
          </a:prstGeom>
          <a:solidFill>
            <a:srgbClr val="111C24"/>
          </a:solidFill>
          <a:ln w="16510">
            <a:solidFill>
              <a:srgbClr val="9AAA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8"/>
          <p:cNvSpPr/>
          <p:nvPr/>
        </p:nvSpPr>
        <p:spPr>
          <a:xfrm>
            <a:off x="6546960" y="1796760"/>
            <a:ext cx="960120" cy="360"/>
          </a:xfrm>
          <a:prstGeom prst="line">
            <a:avLst/>
          </a:prstGeom>
          <a:ln w="10160">
            <a:solidFill>
              <a:srgbClr val="9AAA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9"/>
          <p:cNvSpPr/>
          <p:nvPr/>
        </p:nvSpPr>
        <p:spPr>
          <a:xfrm>
            <a:off x="7552800" y="169164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GLASS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0"/>
          <p:cNvSpPr/>
          <p:nvPr/>
        </p:nvSpPr>
        <p:spPr>
          <a:xfrm>
            <a:off x="4782240" y="2249280"/>
            <a:ext cx="1737000" cy="392760"/>
          </a:xfrm>
          <a:prstGeom prst="rect">
            <a:avLst/>
          </a:prstGeom>
          <a:solidFill>
            <a:srgbClr val="111C24"/>
          </a:solidFill>
          <a:ln w="1651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1"/>
          <p:cNvSpPr/>
          <p:nvPr/>
        </p:nvSpPr>
        <p:spPr>
          <a:xfrm>
            <a:off x="6546960" y="2445840"/>
            <a:ext cx="960120" cy="360"/>
          </a:xfrm>
          <a:prstGeom prst="line">
            <a:avLst/>
          </a:prstGeom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2"/>
          <p:cNvSpPr/>
          <p:nvPr/>
        </p:nvSpPr>
        <p:spPr>
          <a:xfrm>
            <a:off x="7552800" y="234072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METAL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3"/>
          <p:cNvSpPr/>
          <p:nvPr/>
        </p:nvSpPr>
        <p:spPr>
          <a:xfrm>
            <a:off x="4782240" y="2889360"/>
            <a:ext cx="1737000" cy="392760"/>
          </a:xfrm>
          <a:prstGeom prst="rect">
            <a:avLst/>
          </a:prstGeom>
          <a:solidFill>
            <a:srgbClr val="111C24"/>
          </a:solidFill>
          <a:ln w="1651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4"/>
          <p:cNvSpPr/>
          <p:nvPr/>
        </p:nvSpPr>
        <p:spPr>
          <a:xfrm>
            <a:off x="6546960" y="3085920"/>
            <a:ext cx="960120" cy="360"/>
          </a:xfrm>
          <a:prstGeom prst="line">
            <a:avLst/>
          </a:prstGeom>
          <a:ln w="1016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5"/>
          <p:cNvSpPr/>
          <p:nvPr/>
        </p:nvSpPr>
        <p:spPr>
          <a:xfrm>
            <a:off x="7552800" y="298080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BATTERY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6"/>
          <p:cNvSpPr/>
          <p:nvPr/>
        </p:nvSpPr>
        <p:spPr>
          <a:xfrm>
            <a:off x="4782240" y="3529440"/>
            <a:ext cx="1737000" cy="392760"/>
          </a:xfrm>
          <a:prstGeom prst="rect">
            <a:avLst/>
          </a:prstGeom>
          <a:solidFill>
            <a:srgbClr val="111C24"/>
          </a:solidFill>
          <a:ln w="1651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7"/>
          <p:cNvSpPr/>
          <p:nvPr/>
        </p:nvSpPr>
        <p:spPr>
          <a:xfrm>
            <a:off x="5047560" y="3666600"/>
            <a:ext cx="82080" cy="82080"/>
          </a:xfrm>
          <a:prstGeom prst="ellipse">
            <a:avLst/>
          </a:prstGeom>
          <a:solidFill>
            <a:srgbClr val="0B1117"/>
          </a:solidFill>
          <a:ln w="762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8"/>
          <p:cNvSpPr/>
          <p:nvPr/>
        </p:nvSpPr>
        <p:spPr>
          <a:xfrm>
            <a:off x="5321880" y="3666600"/>
            <a:ext cx="82080" cy="82080"/>
          </a:xfrm>
          <a:prstGeom prst="ellipse">
            <a:avLst/>
          </a:prstGeom>
          <a:solidFill>
            <a:srgbClr val="0B1117"/>
          </a:solidFill>
          <a:ln w="762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9"/>
          <p:cNvSpPr/>
          <p:nvPr/>
        </p:nvSpPr>
        <p:spPr>
          <a:xfrm>
            <a:off x="5596200" y="3666600"/>
            <a:ext cx="82080" cy="82080"/>
          </a:xfrm>
          <a:prstGeom prst="ellipse">
            <a:avLst/>
          </a:prstGeom>
          <a:solidFill>
            <a:srgbClr val="0B1117"/>
          </a:solidFill>
          <a:ln w="762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0"/>
          <p:cNvSpPr/>
          <p:nvPr/>
        </p:nvSpPr>
        <p:spPr>
          <a:xfrm>
            <a:off x="5870520" y="3666600"/>
            <a:ext cx="82080" cy="82080"/>
          </a:xfrm>
          <a:prstGeom prst="ellipse">
            <a:avLst/>
          </a:prstGeom>
          <a:solidFill>
            <a:srgbClr val="0B1117"/>
          </a:solidFill>
          <a:ln w="762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1"/>
          <p:cNvSpPr/>
          <p:nvPr/>
        </p:nvSpPr>
        <p:spPr>
          <a:xfrm>
            <a:off x="6144840" y="3666600"/>
            <a:ext cx="82080" cy="82080"/>
          </a:xfrm>
          <a:prstGeom prst="ellipse">
            <a:avLst/>
          </a:prstGeom>
          <a:solidFill>
            <a:srgbClr val="0B1117"/>
          </a:solidFill>
          <a:ln w="762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2"/>
          <p:cNvSpPr/>
          <p:nvPr/>
        </p:nvSpPr>
        <p:spPr>
          <a:xfrm>
            <a:off x="6546960" y="3726000"/>
            <a:ext cx="960120" cy="360"/>
          </a:xfrm>
          <a:prstGeom prst="line">
            <a:avLst/>
          </a:prstGeom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3"/>
          <p:cNvSpPr/>
          <p:nvPr/>
        </p:nvSpPr>
        <p:spPr>
          <a:xfrm>
            <a:off x="7552800" y="362088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CIRCUIT BOARD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4"/>
          <p:cNvSpPr/>
          <p:nvPr/>
        </p:nvSpPr>
        <p:spPr>
          <a:xfrm>
            <a:off x="4782240" y="4169520"/>
            <a:ext cx="1737000" cy="392760"/>
          </a:xfrm>
          <a:prstGeom prst="rect">
            <a:avLst/>
          </a:prstGeom>
          <a:solidFill>
            <a:srgbClr val="111C24"/>
          </a:solidFill>
          <a:ln w="16510">
            <a:solidFill>
              <a:srgbClr val="9AAA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5"/>
          <p:cNvSpPr/>
          <p:nvPr/>
        </p:nvSpPr>
        <p:spPr>
          <a:xfrm>
            <a:off x="6546960" y="4366080"/>
            <a:ext cx="960120" cy="360"/>
          </a:xfrm>
          <a:prstGeom prst="line">
            <a:avLst/>
          </a:prstGeom>
          <a:ln w="10160">
            <a:solidFill>
              <a:srgbClr val="9AAA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6"/>
          <p:cNvSpPr/>
          <p:nvPr/>
        </p:nvSpPr>
        <p:spPr>
          <a:xfrm>
            <a:off x="7552800" y="426096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PLASTIC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7"/>
          <p:cNvSpPr/>
          <p:nvPr/>
        </p:nvSpPr>
        <p:spPr>
          <a:xfrm>
            <a:off x="5650920" y="1334880"/>
            <a:ext cx="360" cy="3337560"/>
          </a:xfrm>
          <a:prstGeom prst="line">
            <a:avLst/>
          </a:prstGeom>
          <a:ln w="1016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8"/>
          <p:cNvSpPr/>
          <p:nvPr/>
        </p:nvSpPr>
        <p:spPr>
          <a:xfrm>
            <a:off x="868680" y="18745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RECOVERABLE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9"/>
          <p:cNvSpPr/>
          <p:nvPr/>
        </p:nvSpPr>
        <p:spPr>
          <a:xfrm>
            <a:off x="868680" y="2322720"/>
            <a:ext cx="196560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COPPER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ALUMINIUM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IRON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GOLD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PLASTICS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0"/>
          <p:cNvSpPr/>
          <p:nvPr/>
        </p:nvSpPr>
        <p:spPr>
          <a:xfrm>
            <a:off x="9162360" y="18745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HAZARDOUS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1"/>
          <p:cNvSpPr/>
          <p:nvPr/>
        </p:nvSpPr>
        <p:spPr>
          <a:xfrm>
            <a:off x="9162360" y="2322720"/>
            <a:ext cx="205704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HEAVY METALS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CHEMICALS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REFRIGERANTS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2"/>
          <p:cNvSpPr/>
          <p:nvPr/>
        </p:nvSpPr>
        <p:spPr>
          <a:xfrm flipH="1">
            <a:off x="2962440" y="2971800"/>
            <a:ext cx="1225440" cy="360"/>
          </a:xfrm>
          <a:prstGeom prst="line">
            <a:avLst/>
          </a:prstGeom>
          <a:ln w="1905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53"/>
          <p:cNvSpPr/>
          <p:nvPr/>
        </p:nvSpPr>
        <p:spPr>
          <a:xfrm>
            <a:off x="7159680" y="2971800"/>
            <a:ext cx="1783080" cy="360"/>
          </a:xfrm>
          <a:prstGeom prst="line">
            <a:avLst/>
          </a:prstGeom>
          <a:ln w="19050">
            <a:solidFill>
              <a:srgbClr val="73D6A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4"/>
          <p:cNvSpPr/>
          <p:nvPr/>
        </p:nvSpPr>
        <p:spPr>
          <a:xfrm>
            <a:off x="868680" y="5321880"/>
            <a:ext cx="10469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E-WASTE CANNOT BE TREATED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LIKE ORDINARY HOUSEHOLD WASTE.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55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6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Ministry of the Environment, Government of Japan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1"/>
          <p:cNvSpPr/>
          <p:nvPr/>
        </p:nvSpPr>
        <p:spPr>
          <a:xfrm>
            <a:off x="85032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85032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850320" y="50292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WHY JAPAN?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6"/>
          <p:cNvSpPr/>
          <p:nvPr/>
        </p:nvSpPr>
        <p:spPr>
          <a:xfrm>
            <a:off x="868680" y="1170360"/>
            <a:ext cx="7131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Japan treats waste as a SYSTEM, not a single recycling step.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7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03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8"/>
          <p:cNvSpPr/>
          <p:nvPr/>
        </p:nvSpPr>
        <p:spPr>
          <a:xfrm>
            <a:off x="1024200" y="1664280"/>
            <a:ext cx="4205880" cy="4205880"/>
          </a:xfrm>
          <a:prstGeom prst="ellipse">
            <a:avLst/>
          </a:prstGeom>
          <a:solidFill>
            <a:srgbClr val="0B1117"/>
          </a:solidFill>
          <a:ln w="228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9"/>
          <p:cNvSpPr/>
          <p:nvPr/>
        </p:nvSpPr>
        <p:spPr>
          <a:xfrm>
            <a:off x="2103120" y="2743200"/>
            <a:ext cx="2048040" cy="2048040"/>
          </a:xfrm>
          <a:prstGeom prst="ellipse">
            <a:avLst/>
          </a:prstGeom>
          <a:solidFill>
            <a:srgbClr val="111C24"/>
          </a:solidFill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0"/>
          <p:cNvSpPr/>
          <p:nvPr/>
        </p:nvSpPr>
        <p:spPr>
          <a:xfrm>
            <a:off x="2103120" y="3310200"/>
            <a:ext cx="2048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RESOURCE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CIRCULATION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8017539-11D8-57BE-CCAB-9D91584AA4B9}"/>
              </a:ext>
            </a:extLst>
          </p:cNvPr>
          <p:cNvGrpSpPr/>
          <p:nvPr/>
        </p:nvGrpSpPr>
        <p:grpSpPr>
          <a:xfrm>
            <a:off x="4675380" y="1893240"/>
            <a:ext cx="1078560" cy="767880"/>
            <a:chOff x="1837800" y="1243440"/>
            <a:chExt cx="1078560" cy="767880"/>
          </a:xfrm>
        </p:grpSpPr>
        <p:sp>
          <p:nvSpPr>
            <p:cNvPr id="179" name="Shape 31"/>
            <p:cNvSpPr/>
            <p:nvPr/>
          </p:nvSpPr>
          <p:spPr>
            <a:xfrm>
              <a:off x="1993320" y="1243440"/>
              <a:ext cx="767880" cy="767880"/>
            </a:xfrm>
            <a:prstGeom prst="ellipse">
              <a:avLst/>
            </a:prstGeom>
            <a:solidFill>
              <a:srgbClr val="111C24"/>
            </a:solidFill>
            <a:ln w="1397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Text 32"/>
            <p:cNvSpPr/>
            <p:nvPr/>
          </p:nvSpPr>
          <p:spPr>
            <a:xfrm>
              <a:off x="1837800" y="1389960"/>
              <a:ext cx="1078560" cy="43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 dirty="0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SOURCE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 dirty="0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SEGREGATION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060E774-3B2B-AD18-F56D-EC923D78793C}"/>
              </a:ext>
            </a:extLst>
          </p:cNvPr>
          <p:cNvGrpSpPr/>
          <p:nvPr/>
        </p:nvGrpSpPr>
        <p:grpSpPr>
          <a:xfrm>
            <a:off x="5027988" y="3992086"/>
            <a:ext cx="1078560" cy="767880"/>
            <a:chOff x="4123800" y="2084760"/>
            <a:chExt cx="1078560" cy="767880"/>
          </a:xfrm>
        </p:grpSpPr>
        <p:sp>
          <p:nvSpPr>
            <p:cNvPr id="181" name="Shape 33"/>
            <p:cNvSpPr/>
            <p:nvPr/>
          </p:nvSpPr>
          <p:spPr>
            <a:xfrm>
              <a:off x="4279320" y="2084760"/>
              <a:ext cx="767880" cy="767880"/>
            </a:xfrm>
            <a:prstGeom prst="ellipse">
              <a:avLst/>
            </a:prstGeom>
            <a:solidFill>
              <a:srgbClr val="111C24"/>
            </a:solidFill>
            <a:ln w="1397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Text 34"/>
            <p:cNvSpPr/>
            <p:nvPr/>
          </p:nvSpPr>
          <p:spPr>
            <a:xfrm>
              <a:off x="4123800" y="2231280"/>
              <a:ext cx="1078560" cy="43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3R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E744C52-5648-B841-0581-3842E4352DF4}"/>
              </a:ext>
            </a:extLst>
          </p:cNvPr>
          <p:cNvGrpSpPr/>
          <p:nvPr/>
        </p:nvGrpSpPr>
        <p:grpSpPr>
          <a:xfrm>
            <a:off x="3730860" y="5614560"/>
            <a:ext cx="1078560" cy="767880"/>
            <a:chOff x="4288680" y="4114800"/>
            <a:chExt cx="1078560" cy="767880"/>
          </a:xfrm>
        </p:grpSpPr>
        <p:sp>
          <p:nvSpPr>
            <p:cNvPr id="183" name="Shape 35"/>
            <p:cNvSpPr/>
            <p:nvPr/>
          </p:nvSpPr>
          <p:spPr>
            <a:xfrm>
              <a:off x="4443840" y="4114800"/>
              <a:ext cx="767880" cy="767880"/>
            </a:xfrm>
            <a:prstGeom prst="ellipse">
              <a:avLst/>
            </a:prstGeom>
            <a:solidFill>
              <a:srgbClr val="111C24"/>
            </a:solidFill>
            <a:ln w="1397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Text 36"/>
            <p:cNvSpPr/>
            <p:nvPr/>
          </p:nvSpPr>
          <p:spPr>
            <a:xfrm>
              <a:off x="4288680" y="4260960"/>
              <a:ext cx="1078560" cy="43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LAW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333AB-5895-8BA7-8912-F9E9F9573FB4}"/>
              </a:ext>
            </a:extLst>
          </p:cNvPr>
          <p:cNvGrpSpPr/>
          <p:nvPr/>
        </p:nvGrpSpPr>
        <p:grpSpPr>
          <a:xfrm>
            <a:off x="1672920" y="5715360"/>
            <a:ext cx="1078560" cy="767880"/>
            <a:chOff x="1774080" y="5687460"/>
            <a:chExt cx="1078560" cy="767880"/>
          </a:xfrm>
        </p:grpSpPr>
        <p:sp>
          <p:nvSpPr>
            <p:cNvPr id="185" name="Shape 37"/>
            <p:cNvSpPr/>
            <p:nvPr/>
          </p:nvSpPr>
          <p:spPr>
            <a:xfrm>
              <a:off x="1911240" y="5687460"/>
              <a:ext cx="767880" cy="767880"/>
            </a:xfrm>
            <a:prstGeom prst="ellipse">
              <a:avLst/>
            </a:prstGeom>
            <a:solidFill>
              <a:srgbClr val="111C24"/>
            </a:solidFill>
            <a:ln w="1397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Text 38"/>
            <p:cNvSpPr/>
            <p:nvPr/>
          </p:nvSpPr>
          <p:spPr>
            <a:xfrm>
              <a:off x="1774080" y="5871060"/>
              <a:ext cx="1078560" cy="43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 dirty="0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PUBLIC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7C856C7-2414-8685-1F5D-89EDF72149D9}"/>
              </a:ext>
            </a:extLst>
          </p:cNvPr>
          <p:cNvGrpSpPr/>
          <p:nvPr/>
        </p:nvGrpSpPr>
        <p:grpSpPr>
          <a:xfrm>
            <a:off x="146520" y="4078440"/>
            <a:ext cx="1078560" cy="767880"/>
            <a:chOff x="191880" y="4169520"/>
            <a:chExt cx="1078560" cy="767880"/>
          </a:xfrm>
        </p:grpSpPr>
        <p:sp>
          <p:nvSpPr>
            <p:cNvPr id="187" name="Shape 39"/>
            <p:cNvSpPr/>
            <p:nvPr/>
          </p:nvSpPr>
          <p:spPr>
            <a:xfrm>
              <a:off x="347400" y="4169520"/>
              <a:ext cx="767880" cy="767880"/>
            </a:xfrm>
            <a:prstGeom prst="ellipse">
              <a:avLst/>
            </a:prstGeom>
            <a:solidFill>
              <a:srgbClr val="111C24"/>
            </a:solidFill>
            <a:ln w="1397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Text 40"/>
            <p:cNvSpPr/>
            <p:nvPr/>
          </p:nvSpPr>
          <p:spPr>
            <a:xfrm>
              <a:off x="191880" y="4316040"/>
              <a:ext cx="1078560" cy="43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INDUSTRY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2C83CF1-4B62-096E-1815-8A0C16A89BD3}"/>
              </a:ext>
            </a:extLst>
          </p:cNvPr>
          <p:cNvGrpSpPr/>
          <p:nvPr/>
        </p:nvGrpSpPr>
        <p:grpSpPr>
          <a:xfrm>
            <a:off x="475448" y="1966320"/>
            <a:ext cx="1078560" cy="767880"/>
            <a:chOff x="9000" y="2057400"/>
            <a:chExt cx="1078560" cy="767880"/>
          </a:xfrm>
        </p:grpSpPr>
        <p:sp>
          <p:nvSpPr>
            <p:cNvPr id="189" name="Shape 41"/>
            <p:cNvSpPr/>
            <p:nvPr/>
          </p:nvSpPr>
          <p:spPr>
            <a:xfrm>
              <a:off x="164520" y="2057400"/>
              <a:ext cx="767880" cy="767880"/>
            </a:xfrm>
            <a:prstGeom prst="ellipse">
              <a:avLst/>
            </a:prstGeom>
            <a:solidFill>
              <a:srgbClr val="111C24"/>
            </a:solidFill>
            <a:ln w="13970">
              <a:solidFill>
                <a:srgbClr val="73D6A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Text 42"/>
            <p:cNvSpPr/>
            <p:nvPr/>
          </p:nvSpPr>
          <p:spPr>
            <a:xfrm>
              <a:off x="9000" y="2203560"/>
              <a:ext cx="1078560" cy="43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 dirty="0">
                  <a:solidFill>
                    <a:srgbClr val="73D6A3"/>
                  </a:solidFill>
                  <a:effectLst/>
                  <a:uFillTx/>
                  <a:latin typeface="Inter"/>
                  <a:ea typeface="Inter"/>
                </a:rPr>
                <a:t>RESOURCE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 dirty="0">
                  <a:solidFill>
                    <a:srgbClr val="73D6A3"/>
                  </a:solidFill>
                  <a:effectLst/>
                  <a:uFillTx/>
                  <a:latin typeface="Inter"/>
                  <a:ea typeface="Inter"/>
                </a:rPr>
                <a:t>RECOVERY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1" name="Text 43"/>
          <p:cNvSpPr/>
          <p:nvPr/>
        </p:nvSpPr>
        <p:spPr>
          <a:xfrm>
            <a:off x="6446520" y="196596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4"/>
          <p:cNvSpPr/>
          <p:nvPr/>
        </p:nvSpPr>
        <p:spPr>
          <a:xfrm>
            <a:off x="7543800" y="2240280"/>
            <a:ext cx="594360" cy="360"/>
          </a:xfrm>
          <a:prstGeom prst="line">
            <a:avLst/>
          </a:prstGeom>
          <a:ln w="1270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5"/>
          <p:cNvSpPr/>
          <p:nvPr/>
        </p:nvSpPr>
        <p:spPr>
          <a:xfrm>
            <a:off x="8339400" y="196596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SEPARATE EARLY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6"/>
          <p:cNvSpPr/>
          <p:nvPr/>
        </p:nvSpPr>
        <p:spPr>
          <a:xfrm>
            <a:off x="6446520" y="334656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7"/>
          <p:cNvSpPr/>
          <p:nvPr/>
        </p:nvSpPr>
        <p:spPr>
          <a:xfrm>
            <a:off x="7543800" y="3620880"/>
            <a:ext cx="594360" cy="360"/>
          </a:xfrm>
          <a:prstGeom prst="line">
            <a:avLst/>
          </a:prstGeom>
          <a:ln w="1270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8"/>
          <p:cNvSpPr/>
          <p:nvPr/>
        </p:nvSpPr>
        <p:spPr>
          <a:xfrm>
            <a:off x="8339400" y="334656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RECOVER VALUE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9"/>
          <p:cNvSpPr/>
          <p:nvPr/>
        </p:nvSpPr>
        <p:spPr>
          <a:xfrm>
            <a:off x="6446520" y="472752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50"/>
          <p:cNvSpPr/>
          <p:nvPr/>
        </p:nvSpPr>
        <p:spPr>
          <a:xfrm>
            <a:off x="7543800" y="5001480"/>
            <a:ext cx="594360" cy="360"/>
          </a:xfrm>
          <a:prstGeom prst="line">
            <a:avLst/>
          </a:prstGeom>
          <a:ln w="1270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1"/>
          <p:cNvSpPr/>
          <p:nvPr/>
        </p:nvSpPr>
        <p:spPr>
          <a:xfrm>
            <a:off x="8339400" y="472752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MINIMIZE FINAL DISPOSAL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52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53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Ministry of the Environment, Government of Japan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1"/>
          <p:cNvSpPr/>
          <p:nvPr/>
        </p:nvSpPr>
        <p:spPr>
          <a:xfrm>
            <a:off x="703980" y="376254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2"/>
          <p:cNvSpPr/>
          <p:nvPr/>
        </p:nvSpPr>
        <p:spPr>
          <a:xfrm>
            <a:off x="702771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5"/>
          <p:cNvSpPr/>
          <p:nvPr/>
        </p:nvSpPr>
        <p:spPr>
          <a:xfrm>
            <a:off x="849960" y="55404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BEFORE RECYCLING,</a:t>
            </a:r>
            <a:endParaRPr lang="en-US" sz="3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THERE IS REDUCTION.</a:t>
            </a:r>
            <a:endParaRPr lang="en-US" sz="3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6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04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F07327-FC47-4450-E459-C4D4B96DF608}"/>
              </a:ext>
            </a:extLst>
          </p:cNvPr>
          <p:cNvGrpSpPr/>
          <p:nvPr/>
        </p:nvGrpSpPr>
        <p:grpSpPr>
          <a:xfrm>
            <a:off x="1143000" y="1807281"/>
            <a:ext cx="3950431" cy="642879"/>
            <a:chOff x="1143000" y="1807281"/>
            <a:chExt cx="3950431" cy="642879"/>
          </a:xfrm>
        </p:grpSpPr>
        <p:sp>
          <p:nvSpPr>
            <p:cNvPr id="229" name="Shape 27"/>
            <p:cNvSpPr/>
            <p:nvPr/>
          </p:nvSpPr>
          <p:spPr>
            <a:xfrm>
              <a:off x="1161871" y="1807281"/>
              <a:ext cx="3931560" cy="621360"/>
            </a:xfrm>
            <a:prstGeom prst="rect">
              <a:avLst/>
            </a:prstGeom>
            <a:solidFill>
              <a:srgbClr val="111C24"/>
            </a:solidFill>
            <a:ln w="1778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Text 28"/>
            <p:cNvSpPr/>
            <p:nvPr/>
          </p:nvSpPr>
          <p:spPr>
            <a:xfrm>
              <a:off x="1143000" y="1828800"/>
              <a:ext cx="3931560" cy="62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800" b="1" u="none" strike="noStrike" dirty="0">
                  <a:solidFill>
                    <a:srgbClr val="35C6D0"/>
                  </a:solidFill>
                  <a:effectLst/>
                  <a:uFillTx/>
                  <a:latin typeface="Inter"/>
                  <a:ea typeface="Inter"/>
                </a:rPr>
                <a:t>REDUCE</a:t>
              </a:r>
              <a:endParaRPr lang="en-US" sz="28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1" name="Shape 29"/>
          <p:cNvSpPr/>
          <p:nvPr/>
        </p:nvSpPr>
        <p:spPr>
          <a:xfrm>
            <a:off x="3090600" y="2486880"/>
            <a:ext cx="360" cy="201240"/>
          </a:xfrm>
          <a:prstGeom prst="line">
            <a:avLst/>
          </a:prstGeom>
          <a:ln w="1524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0"/>
          <p:cNvSpPr/>
          <p:nvPr/>
        </p:nvSpPr>
        <p:spPr>
          <a:xfrm>
            <a:off x="1828800" y="2761560"/>
            <a:ext cx="2559960" cy="621360"/>
          </a:xfrm>
          <a:prstGeom prst="rect">
            <a:avLst/>
          </a:prstGeom>
          <a:solidFill>
            <a:srgbClr val="111C24"/>
          </a:solidFill>
          <a:ln w="17780">
            <a:solidFill>
              <a:srgbClr val="F2F6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1"/>
          <p:cNvSpPr/>
          <p:nvPr/>
        </p:nvSpPr>
        <p:spPr>
          <a:xfrm>
            <a:off x="1828800" y="2761560"/>
            <a:ext cx="25599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REUSE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2"/>
          <p:cNvSpPr/>
          <p:nvPr/>
        </p:nvSpPr>
        <p:spPr>
          <a:xfrm>
            <a:off x="3090600" y="3419640"/>
            <a:ext cx="360" cy="201240"/>
          </a:xfrm>
          <a:prstGeom prst="line">
            <a:avLst/>
          </a:prstGeom>
          <a:ln w="1524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33"/>
          <p:cNvSpPr/>
          <p:nvPr/>
        </p:nvSpPr>
        <p:spPr>
          <a:xfrm>
            <a:off x="2359080" y="3703320"/>
            <a:ext cx="1508400" cy="621360"/>
          </a:xfrm>
          <a:prstGeom prst="rect">
            <a:avLst/>
          </a:prstGeom>
          <a:solidFill>
            <a:srgbClr val="111C24"/>
          </a:solidFill>
          <a:ln w="1778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4"/>
          <p:cNvSpPr/>
          <p:nvPr/>
        </p:nvSpPr>
        <p:spPr>
          <a:xfrm>
            <a:off x="2359080" y="3703320"/>
            <a:ext cx="15084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RECYCLE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5"/>
          <p:cNvSpPr/>
          <p:nvPr/>
        </p:nvSpPr>
        <p:spPr>
          <a:xfrm>
            <a:off x="6858000" y="1828800"/>
            <a:ext cx="2788560" cy="2788560"/>
          </a:xfrm>
          <a:prstGeom prst="ellipse">
            <a:avLst/>
          </a:prstGeom>
          <a:solidFill>
            <a:srgbClr val="111C24"/>
          </a:solidFill>
          <a:ln w="2159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6"/>
          <p:cNvSpPr/>
          <p:nvPr/>
        </p:nvSpPr>
        <p:spPr>
          <a:xfrm>
            <a:off x="7452360" y="2359845"/>
            <a:ext cx="1618200" cy="1710000"/>
          </a:xfrm>
          <a:prstGeom prst="ellipse">
            <a:avLst/>
          </a:prstGeom>
          <a:solidFill>
            <a:srgbClr val="0B1117"/>
          </a:solidFill>
          <a:ln w="1524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7"/>
          <p:cNvSpPr/>
          <p:nvPr/>
        </p:nvSpPr>
        <p:spPr>
          <a:xfrm>
            <a:off x="7059240" y="286200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MOTTAINAI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8"/>
          <p:cNvSpPr/>
          <p:nvPr/>
        </p:nvSpPr>
        <p:spPr>
          <a:xfrm>
            <a:off x="7059240" y="326448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RESPECT WHAT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ALREADY EXISTS.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9"/>
          <p:cNvSpPr/>
          <p:nvPr/>
        </p:nvSpPr>
        <p:spPr>
          <a:xfrm>
            <a:off x="7741440" y="1533983"/>
            <a:ext cx="95976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0"/>
          <p:cNvSpPr/>
          <p:nvPr/>
        </p:nvSpPr>
        <p:spPr>
          <a:xfrm>
            <a:off x="7759080" y="1526355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 dirty="0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REPAIR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1"/>
          <p:cNvSpPr/>
          <p:nvPr/>
        </p:nvSpPr>
        <p:spPr>
          <a:xfrm>
            <a:off x="9646560" y="3031740"/>
            <a:ext cx="95976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2"/>
          <p:cNvSpPr/>
          <p:nvPr/>
        </p:nvSpPr>
        <p:spPr>
          <a:xfrm>
            <a:off x="9655740" y="3014781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 dirty="0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REFILL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8E2126-CE8F-81F3-DF75-11C66E192272}"/>
              </a:ext>
            </a:extLst>
          </p:cNvPr>
          <p:cNvGrpSpPr/>
          <p:nvPr/>
        </p:nvGrpSpPr>
        <p:grpSpPr>
          <a:xfrm>
            <a:off x="7781580" y="4653720"/>
            <a:ext cx="959760" cy="255600"/>
            <a:chOff x="7525440" y="4599360"/>
            <a:chExt cx="959760" cy="255600"/>
          </a:xfrm>
        </p:grpSpPr>
        <p:sp>
          <p:nvSpPr>
            <p:cNvPr id="245" name="Shape 43"/>
            <p:cNvSpPr/>
            <p:nvPr/>
          </p:nvSpPr>
          <p:spPr>
            <a:xfrm>
              <a:off x="7525440" y="4599360"/>
              <a:ext cx="959760" cy="255600"/>
            </a:xfrm>
            <a:prstGeom prst="roundRect">
              <a:avLst>
                <a:gd name="adj" fmla="val 357143"/>
              </a:avLst>
            </a:prstGeom>
            <a:solidFill>
              <a:srgbClr val="0B1117"/>
            </a:solidFill>
            <a:ln w="1016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Text 44"/>
            <p:cNvSpPr/>
            <p:nvPr/>
          </p:nvSpPr>
          <p:spPr>
            <a:xfrm>
              <a:off x="7525440" y="4599360"/>
              <a:ext cx="95976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none" strike="noStrike" spc="99">
                  <a:solidFill>
                    <a:srgbClr val="35C6D0"/>
                  </a:solidFill>
                  <a:effectLst/>
                  <a:uFillTx/>
                  <a:latin typeface="Inter"/>
                  <a:ea typeface="Inter"/>
                </a:rPr>
                <a:t>REUSE</a:t>
              </a:r>
              <a:endParaRPr lang="en-US" sz="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7" name="Shape 45"/>
          <p:cNvSpPr/>
          <p:nvPr/>
        </p:nvSpPr>
        <p:spPr>
          <a:xfrm>
            <a:off x="5868763" y="2992657"/>
            <a:ext cx="95976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46"/>
          <p:cNvSpPr/>
          <p:nvPr/>
        </p:nvSpPr>
        <p:spPr>
          <a:xfrm>
            <a:off x="5859583" y="2983298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 dirty="0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RECOVER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7"/>
          <p:cNvSpPr/>
          <p:nvPr/>
        </p:nvSpPr>
        <p:spPr>
          <a:xfrm>
            <a:off x="6035040" y="5230080"/>
            <a:ext cx="822960" cy="36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48"/>
          <p:cNvSpPr/>
          <p:nvPr/>
        </p:nvSpPr>
        <p:spPr>
          <a:xfrm>
            <a:off x="6446520" y="4827960"/>
            <a:ext cx="360" cy="80460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9"/>
          <p:cNvSpPr/>
          <p:nvPr/>
        </p:nvSpPr>
        <p:spPr>
          <a:xfrm>
            <a:off x="6355080" y="5230080"/>
            <a:ext cx="822960" cy="36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50"/>
          <p:cNvSpPr/>
          <p:nvPr/>
        </p:nvSpPr>
        <p:spPr>
          <a:xfrm>
            <a:off x="6766560" y="4827960"/>
            <a:ext cx="360" cy="80460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51"/>
          <p:cNvSpPr/>
          <p:nvPr/>
        </p:nvSpPr>
        <p:spPr>
          <a:xfrm>
            <a:off x="6675120" y="5230080"/>
            <a:ext cx="822960" cy="36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52"/>
          <p:cNvSpPr/>
          <p:nvPr/>
        </p:nvSpPr>
        <p:spPr>
          <a:xfrm>
            <a:off x="7086600" y="4827960"/>
            <a:ext cx="360" cy="80460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53"/>
          <p:cNvSpPr/>
          <p:nvPr/>
        </p:nvSpPr>
        <p:spPr>
          <a:xfrm>
            <a:off x="6995160" y="5230080"/>
            <a:ext cx="822960" cy="36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4"/>
          <p:cNvSpPr/>
          <p:nvPr/>
        </p:nvSpPr>
        <p:spPr>
          <a:xfrm>
            <a:off x="7406640" y="4827960"/>
            <a:ext cx="360" cy="80460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55"/>
          <p:cNvSpPr/>
          <p:nvPr/>
        </p:nvSpPr>
        <p:spPr>
          <a:xfrm>
            <a:off x="7315200" y="5230080"/>
            <a:ext cx="822960" cy="36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6"/>
          <p:cNvSpPr/>
          <p:nvPr/>
        </p:nvSpPr>
        <p:spPr>
          <a:xfrm>
            <a:off x="7726680" y="4827960"/>
            <a:ext cx="360" cy="804600"/>
          </a:xfrm>
          <a:prstGeom prst="line">
            <a:avLst/>
          </a:prstGeom>
          <a:ln w="889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57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8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Ministry of the Environment, Government of Japan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1"/>
          <p:cNvSpPr/>
          <p:nvPr/>
        </p:nvSpPr>
        <p:spPr>
          <a:xfrm>
            <a:off x="85032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2"/>
          <p:cNvSpPr/>
          <p:nvPr/>
        </p:nvSpPr>
        <p:spPr>
          <a:xfrm>
            <a:off x="85032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5"/>
          <p:cNvSpPr/>
          <p:nvPr/>
        </p:nvSpPr>
        <p:spPr>
          <a:xfrm>
            <a:off x="850320" y="50292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FROM DEVICE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TO RESOURCE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6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05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7"/>
          <p:cNvSpPr/>
          <p:nvPr/>
        </p:nvSpPr>
        <p:spPr>
          <a:xfrm>
            <a:off x="868680" y="2084760"/>
            <a:ext cx="1115280" cy="1115280"/>
          </a:xfrm>
          <a:prstGeom prst="ellipse">
            <a:avLst/>
          </a:prstGeom>
          <a:solidFill>
            <a:srgbClr val="111C24"/>
          </a:solidFill>
          <a:ln w="1778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8"/>
          <p:cNvSpPr/>
          <p:nvPr/>
        </p:nvSpPr>
        <p:spPr>
          <a:xfrm>
            <a:off x="868680" y="2258640"/>
            <a:ext cx="1115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9"/>
          <p:cNvSpPr/>
          <p:nvPr/>
        </p:nvSpPr>
        <p:spPr>
          <a:xfrm>
            <a:off x="704160" y="2578680"/>
            <a:ext cx="144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DEVICE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0"/>
          <p:cNvSpPr/>
          <p:nvPr/>
        </p:nvSpPr>
        <p:spPr>
          <a:xfrm>
            <a:off x="2039040" y="2642400"/>
            <a:ext cx="576000" cy="360"/>
          </a:xfrm>
          <a:prstGeom prst="line">
            <a:avLst/>
          </a:prstGeom>
          <a:ln w="1651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1"/>
          <p:cNvSpPr/>
          <p:nvPr/>
        </p:nvSpPr>
        <p:spPr>
          <a:xfrm>
            <a:off x="2697480" y="2084760"/>
            <a:ext cx="1115280" cy="1115280"/>
          </a:xfrm>
          <a:prstGeom prst="ellipse">
            <a:avLst/>
          </a:prstGeom>
          <a:solidFill>
            <a:srgbClr val="111C24"/>
          </a:solidFill>
          <a:ln w="1778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2"/>
          <p:cNvSpPr/>
          <p:nvPr/>
        </p:nvSpPr>
        <p:spPr>
          <a:xfrm>
            <a:off x="2697480" y="2258640"/>
            <a:ext cx="1115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3"/>
          <p:cNvSpPr/>
          <p:nvPr/>
        </p:nvSpPr>
        <p:spPr>
          <a:xfrm>
            <a:off x="2532960" y="2578680"/>
            <a:ext cx="144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COLLECTION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4"/>
          <p:cNvSpPr/>
          <p:nvPr/>
        </p:nvSpPr>
        <p:spPr>
          <a:xfrm>
            <a:off x="3867840" y="2642400"/>
            <a:ext cx="576000" cy="360"/>
          </a:xfrm>
          <a:prstGeom prst="line">
            <a:avLst/>
          </a:prstGeom>
          <a:ln w="1651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5"/>
          <p:cNvSpPr/>
          <p:nvPr/>
        </p:nvSpPr>
        <p:spPr>
          <a:xfrm>
            <a:off x="4526280" y="2084760"/>
            <a:ext cx="1115280" cy="1115280"/>
          </a:xfrm>
          <a:prstGeom prst="ellipse">
            <a:avLst/>
          </a:prstGeom>
          <a:solidFill>
            <a:srgbClr val="111C24"/>
          </a:solidFill>
          <a:ln w="1778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6"/>
          <p:cNvSpPr/>
          <p:nvPr/>
        </p:nvSpPr>
        <p:spPr>
          <a:xfrm>
            <a:off x="4526280" y="2258640"/>
            <a:ext cx="1115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7"/>
          <p:cNvSpPr/>
          <p:nvPr/>
        </p:nvSpPr>
        <p:spPr>
          <a:xfrm>
            <a:off x="4361760" y="2578680"/>
            <a:ext cx="144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DISMANTLING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8"/>
          <p:cNvSpPr/>
          <p:nvPr/>
        </p:nvSpPr>
        <p:spPr>
          <a:xfrm>
            <a:off x="5696640" y="2642400"/>
            <a:ext cx="576000" cy="360"/>
          </a:xfrm>
          <a:prstGeom prst="line">
            <a:avLst/>
          </a:prstGeom>
          <a:ln w="1651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39"/>
          <p:cNvSpPr/>
          <p:nvPr/>
        </p:nvSpPr>
        <p:spPr>
          <a:xfrm>
            <a:off x="6355080" y="2084760"/>
            <a:ext cx="1115280" cy="1115280"/>
          </a:xfrm>
          <a:prstGeom prst="ellipse">
            <a:avLst/>
          </a:prstGeom>
          <a:solidFill>
            <a:srgbClr val="111C24"/>
          </a:solidFill>
          <a:ln w="1778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0"/>
          <p:cNvSpPr/>
          <p:nvPr/>
        </p:nvSpPr>
        <p:spPr>
          <a:xfrm>
            <a:off x="6355080" y="2258640"/>
            <a:ext cx="1115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1"/>
          <p:cNvSpPr/>
          <p:nvPr/>
        </p:nvSpPr>
        <p:spPr>
          <a:xfrm>
            <a:off x="6190560" y="2578680"/>
            <a:ext cx="144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SEPARATION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2"/>
          <p:cNvSpPr/>
          <p:nvPr/>
        </p:nvSpPr>
        <p:spPr>
          <a:xfrm>
            <a:off x="7525440" y="2642400"/>
            <a:ext cx="576000" cy="360"/>
          </a:xfrm>
          <a:prstGeom prst="line">
            <a:avLst/>
          </a:prstGeom>
          <a:ln w="1651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3"/>
          <p:cNvSpPr/>
          <p:nvPr/>
        </p:nvSpPr>
        <p:spPr>
          <a:xfrm>
            <a:off x="8183880" y="2084760"/>
            <a:ext cx="1115280" cy="1115280"/>
          </a:xfrm>
          <a:prstGeom prst="ellipse">
            <a:avLst/>
          </a:prstGeom>
          <a:solidFill>
            <a:srgbClr val="111C24"/>
          </a:solidFill>
          <a:ln w="1778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4"/>
          <p:cNvSpPr/>
          <p:nvPr/>
        </p:nvSpPr>
        <p:spPr>
          <a:xfrm>
            <a:off x="8183880" y="2258640"/>
            <a:ext cx="1115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5"/>
          <p:cNvSpPr/>
          <p:nvPr/>
        </p:nvSpPr>
        <p:spPr>
          <a:xfrm>
            <a:off x="8019360" y="2578680"/>
            <a:ext cx="144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RECOVERY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6"/>
          <p:cNvSpPr/>
          <p:nvPr/>
        </p:nvSpPr>
        <p:spPr>
          <a:xfrm>
            <a:off x="9354240" y="2642400"/>
            <a:ext cx="576000" cy="360"/>
          </a:xfrm>
          <a:prstGeom prst="line">
            <a:avLst/>
          </a:prstGeom>
          <a:ln w="16510">
            <a:solidFill>
              <a:srgbClr val="73D6A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47"/>
          <p:cNvSpPr/>
          <p:nvPr/>
        </p:nvSpPr>
        <p:spPr>
          <a:xfrm>
            <a:off x="10012680" y="2084760"/>
            <a:ext cx="1115280" cy="1115280"/>
          </a:xfrm>
          <a:prstGeom prst="ellipse">
            <a:avLst/>
          </a:prstGeom>
          <a:solidFill>
            <a:srgbClr val="111C24"/>
          </a:solidFill>
          <a:ln w="1778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8"/>
          <p:cNvSpPr/>
          <p:nvPr/>
        </p:nvSpPr>
        <p:spPr>
          <a:xfrm>
            <a:off x="10012680" y="2258640"/>
            <a:ext cx="1115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9"/>
          <p:cNvSpPr/>
          <p:nvPr/>
        </p:nvSpPr>
        <p:spPr>
          <a:xfrm>
            <a:off x="9848160" y="2578680"/>
            <a:ext cx="144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NEW RESOURCE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50"/>
          <p:cNvSpPr/>
          <p:nvPr/>
        </p:nvSpPr>
        <p:spPr>
          <a:xfrm flipH="1">
            <a:off x="4087080" y="3227760"/>
            <a:ext cx="2825640" cy="1051560"/>
          </a:xfrm>
          <a:prstGeom prst="line">
            <a:avLst/>
          </a:prstGeom>
          <a:ln w="1016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51"/>
          <p:cNvSpPr/>
          <p:nvPr/>
        </p:nvSpPr>
        <p:spPr>
          <a:xfrm>
            <a:off x="4087440" y="4316040"/>
            <a:ext cx="91404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52"/>
          <p:cNvSpPr/>
          <p:nvPr/>
        </p:nvSpPr>
        <p:spPr>
          <a:xfrm>
            <a:off x="4087440" y="43160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COPPER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53"/>
          <p:cNvSpPr/>
          <p:nvPr/>
        </p:nvSpPr>
        <p:spPr>
          <a:xfrm flipH="1">
            <a:off x="5239440" y="3227760"/>
            <a:ext cx="1673280" cy="1051560"/>
          </a:xfrm>
          <a:prstGeom prst="line">
            <a:avLst/>
          </a:prstGeom>
          <a:ln w="1016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54"/>
          <p:cNvSpPr/>
          <p:nvPr/>
        </p:nvSpPr>
        <p:spPr>
          <a:xfrm>
            <a:off x="5239440" y="4316040"/>
            <a:ext cx="91404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55"/>
          <p:cNvSpPr/>
          <p:nvPr/>
        </p:nvSpPr>
        <p:spPr>
          <a:xfrm>
            <a:off x="5239440" y="43160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ALUMINIUM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56"/>
          <p:cNvSpPr/>
          <p:nvPr/>
        </p:nvSpPr>
        <p:spPr>
          <a:xfrm flipH="1">
            <a:off x="6391440" y="3227760"/>
            <a:ext cx="521280" cy="1051560"/>
          </a:xfrm>
          <a:prstGeom prst="line">
            <a:avLst/>
          </a:prstGeom>
          <a:ln w="1016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57"/>
          <p:cNvSpPr/>
          <p:nvPr/>
        </p:nvSpPr>
        <p:spPr>
          <a:xfrm>
            <a:off x="6391800" y="4316040"/>
            <a:ext cx="91404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58"/>
          <p:cNvSpPr/>
          <p:nvPr/>
        </p:nvSpPr>
        <p:spPr>
          <a:xfrm>
            <a:off x="6391800" y="43160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PLASTIC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59"/>
          <p:cNvSpPr/>
          <p:nvPr/>
        </p:nvSpPr>
        <p:spPr>
          <a:xfrm>
            <a:off x="6912720" y="3227760"/>
            <a:ext cx="631080" cy="1051560"/>
          </a:xfrm>
          <a:prstGeom prst="line">
            <a:avLst/>
          </a:prstGeom>
          <a:ln w="1016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60"/>
          <p:cNvSpPr/>
          <p:nvPr/>
        </p:nvSpPr>
        <p:spPr>
          <a:xfrm>
            <a:off x="7543800" y="4316040"/>
            <a:ext cx="91404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1"/>
          <p:cNvSpPr/>
          <p:nvPr/>
        </p:nvSpPr>
        <p:spPr>
          <a:xfrm>
            <a:off x="7543800" y="43160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GLASS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62"/>
          <p:cNvSpPr/>
          <p:nvPr/>
        </p:nvSpPr>
        <p:spPr>
          <a:xfrm>
            <a:off x="6912720" y="3227760"/>
            <a:ext cx="1783080" cy="1051560"/>
          </a:xfrm>
          <a:prstGeom prst="line">
            <a:avLst/>
          </a:prstGeom>
          <a:ln w="1016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63"/>
          <p:cNvSpPr/>
          <p:nvPr/>
        </p:nvSpPr>
        <p:spPr>
          <a:xfrm>
            <a:off x="8695800" y="4316040"/>
            <a:ext cx="1069560" cy="25560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64"/>
          <p:cNvSpPr/>
          <p:nvPr/>
        </p:nvSpPr>
        <p:spPr>
          <a:xfrm>
            <a:off x="8695800" y="4316040"/>
            <a:ext cx="1069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COMPONENTS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65"/>
          <p:cNvSpPr/>
          <p:nvPr/>
        </p:nvSpPr>
        <p:spPr>
          <a:xfrm>
            <a:off x="4087080" y="4882680"/>
            <a:ext cx="5651280" cy="360"/>
          </a:xfrm>
          <a:prstGeom prst="line">
            <a:avLst/>
          </a:prstGeom>
          <a:ln w="1270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66"/>
          <p:cNvSpPr/>
          <p:nvPr/>
        </p:nvSpPr>
        <p:spPr>
          <a:xfrm>
            <a:off x="9738360" y="4882680"/>
            <a:ext cx="594360" cy="360"/>
          </a:xfrm>
          <a:prstGeom prst="line">
            <a:avLst/>
          </a:prstGeom>
          <a:ln w="19050">
            <a:solidFill>
              <a:srgbClr val="73D6A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67"/>
          <p:cNvSpPr/>
          <p:nvPr/>
        </p:nvSpPr>
        <p:spPr>
          <a:xfrm>
            <a:off x="10387440" y="4498920"/>
            <a:ext cx="959760" cy="767880"/>
          </a:xfrm>
          <a:prstGeom prst="rect">
            <a:avLst/>
          </a:prstGeom>
          <a:solidFill>
            <a:srgbClr val="111C24"/>
          </a:solidFill>
          <a:ln w="1905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68"/>
          <p:cNvSpPr/>
          <p:nvPr/>
        </p:nvSpPr>
        <p:spPr>
          <a:xfrm>
            <a:off x="10387440" y="4645080"/>
            <a:ext cx="959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NEW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PRODUCTS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69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70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Ministry of the Environment, Government of Japan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CA10F3-6198-5455-3013-062571C517FC}"/>
              </a:ext>
            </a:extLst>
          </p:cNvPr>
          <p:cNvGrpSpPr/>
          <p:nvPr/>
        </p:nvGrpSpPr>
        <p:grpSpPr>
          <a:xfrm>
            <a:off x="703800" y="439200"/>
            <a:ext cx="292680" cy="182880"/>
            <a:chOff x="850320" y="411480"/>
            <a:chExt cx="292680" cy="182880"/>
          </a:xfrm>
        </p:grpSpPr>
        <p:sp>
          <p:nvSpPr>
            <p:cNvPr id="353" name="Shape 21"/>
            <p:cNvSpPr/>
            <p:nvPr/>
          </p:nvSpPr>
          <p:spPr>
            <a:xfrm>
              <a:off x="850320" y="411480"/>
              <a:ext cx="292680" cy="36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Shape 22"/>
            <p:cNvSpPr/>
            <p:nvPr/>
          </p:nvSpPr>
          <p:spPr>
            <a:xfrm>
              <a:off x="850320" y="411480"/>
              <a:ext cx="360" cy="18288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5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5"/>
          <p:cNvSpPr/>
          <p:nvPr/>
        </p:nvSpPr>
        <p:spPr>
          <a:xfrm>
            <a:off x="850320" y="50292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WHO OWNS THE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END OF A PRODUCT’S LIFE?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6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06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7"/>
          <p:cNvSpPr/>
          <p:nvPr/>
        </p:nvSpPr>
        <p:spPr>
          <a:xfrm>
            <a:off x="932760" y="1664280"/>
            <a:ext cx="4315680" cy="4315680"/>
          </a:xfrm>
          <a:prstGeom prst="ellipse">
            <a:avLst/>
          </a:prstGeom>
          <a:solidFill>
            <a:srgbClr val="0B1117"/>
          </a:solidFill>
          <a:ln w="2286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8"/>
          <p:cNvSpPr/>
          <p:nvPr/>
        </p:nvSpPr>
        <p:spPr>
          <a:xfrm>
            <a:off x="2084760" y="2816280"/>
            <a:ext cx="2011320" cy="2011320"/>
          </a:xfrm>
          <a:prstGeom prst="ellipse">
            <a:avLst/>
          </a:prstGeom>
          <a:solidFill>
            <a:srgbClr val="111C24"/>
          </a:solidFill>
          <a:ln w="1778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9"/>
          <p:cNvSpPr/>
          <p:nvPr/>
        </p:nvSpPr>
        <p:spPr>
          <a:xfrm>
            <a:off x="2071440" y="350280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RESOURCE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RECOVERY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7DF2AFD-DE81-2A97-DF6A-18643289C977}"/>
              </a:ext>
            </a:extLst>
          </p:cNvPr>
          <p:cNvGrpSpPr/>
          <p:nvPr/>
        </p:nvGrpSpPr>
        <p:grpSpPr>
          <a:xfrm>
            <a:off x="2605680" y="1303380"/>
            <a:ext cx="1151640" cy="749520"/>
            <a:chOff x="1911240" y="1234440"/>
            <a:chExt cx="1151640" cy="749520"/>
          </a:xfrm>
        </p:grpSpPr>
        <p:sp>
          <p:nvSpPr>
            <p:cNvPr id="362" name="Shape 30"/>
            <p:cNvSpPr/>
            <p:nvPr/>
          </p:nvSpPr>
          <p:spPr>
            <a:xfrm>
              <a:off x="2112120" y="1234440"/>
              <a:ext cx="749520" cy="749520"/>
            </a:xfrm>
            <a:prstGeom prst="ellipse">
              <a:avLst/>
            </a:prstGeom>
            <a:solidFill>
              <a:srgbClr val="111C24"/>
            </a:solidFill>
            <a:ln w="127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Text 31"/>
            <p:cNvSpPr/>
            <p:nvPr/>
          </p:nvSpPr>
          <p:spPr>
            <a:xfrm>
              <a:off x="1911240" y="1472040"/>
              <a:ext cx="115164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 dirty="0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CONSUMER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ECA5A77-F99A-84BB-FF6A-CD93B8098B0F}"/>
              </a:ext>
            </a:extLst>
          </p:cNvPr>
          <p:cNvGrpSpPr/>
          <p:nvPr/>
        </p:nvGrpSpPr>
        <p:grpSpPr>
          <a:xfrm>
            <a:off x="4638114" y="3457192"/>
            <a:ext cx="1151640" cy="749520"/>
            <a:chOff x="3950280" y="2834640"/>
            <a:chExt cx="1151640" cy="749520"/>
          </a:xfrm>
        </p:grpSpPr>
        <p:sp>
          <p:nvSpPr>
            <p:cNvPr id="364" name="Shape 32"/>
            <p:cNvSpPr/>
            <p:nvPr/>
          </p:nvSpPr>
          <p:spPr>
            <a:xfrm>
              <a:off x="4151520" y="2834640"/>
              <a:ext cx="749520" cy="749520"/>
            </a:xfrm>
            <a:prstGeom prst="ellipse">
              <a:avLst/>
            </a:prstGeom>
            <a:solidFill>
              <a:srgbClr val="111C24"/>
            </a:solidFill>
            <a:ln w="127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Text 33"/>
            <p:cNvSpPr/>
            <p:nvPr/>
          </p:nvSpPr>
          <p:spPr>
            <a:xfrm>
              <a:off x="3950280" y="3072240"/>
              <a:ext cx="115164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RETAILER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F0CF8DC-EADF-EC67-1C72-71C1BBE98913}"/>
              </a:ext>
            </a:extLst>
          </p:cNvPr>
          <p:cNvGrpSpPr/>
          <p:nvPr/>
        </p:nvGrpSpPr>
        <p:grpSpPr>
          <a:xfrm>
            <a:off x="2464740" y="5446541"/>
            <a:ext cx="1151640" cy="749520"/>
            <a:chOff x="1828800" y="5102280"/>
            <a:chExt cx="1151640" cy="749520"/>
          </a:xfrm>
        </p:grpSpPr>
        <p:sp>
          <p:nvSpPr>
            <p:cNvPr id="366" name="Shape 34"/>
            <p:cNvSpPr/>
            <p:nvPr/>
          </p:nvSpPr>
          <p:spPr>
            <a:xfrm>
              <a:off x="2030040" y="5102280"/>
              <a:ext cx="749520" cy="749520"/>
            </a:xfrm>
            <a:prstGeom prst="ellipse">
              <a:avLst/>
            </a:prstGeom>
            <a:solidFill>
              <a:srgbClr val="111C24"/>
            </a:solidFill>
            <a:ln w="127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Text 35"/>
            <p:cNvSpPr/>
            <p:nvPr/>
          </p:nvSpPr>
          <p:spPr>
            <a:xfrm>
              <a:off x="1828800" y="5340240"/>
              <a:ext cx="115164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 dirty="0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MANUFACTURER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0083768-7351-B0C0-7EAA-146FD6A7FD6D}"/>
              </a:ext>
            </a:extLst>
          </p:cNvPr>
          <p:cNvGrpSpPr/>
          <p:nvPr/>
        </p:nvGrpSpPr>
        <p:grpSpPr>
          <a:xfrm>
            <a:off x="348300" y="3502800"/>
            <a:ext cx="1151640" cy="749520"/>
            <a:chOff x="-82440" y="2834640"/>
            <a:chExt cx="1151640" cy="749520"/>
          </a:xfrm>
        </p:grpSpPr>
        <p:sp>
          <p:nvSpPr>
            <p:cNvPr id="368" name="Shape 36"/>
            <p:cNvSpPr/>
            <p:nvPr/>
          </p:nvSpPr>
          <p:spPr>
            <a:xfrm>
              <a:off x="118800" y="2834640"/>
              <a:ext cx="749520" cy="749520"/>
            </a:xfrm>
            <a:prstGeom prst="ellipse">
              <a:avLst/>
            </a:prstGeom>
            <a:solidFill>
              <a:srgbClr val="111C24"/>
            </a:solidFill>
            <a:ln w="127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Text 37"/>
            <p:cNvSpPr/>
            <p:nvPr/>
          </p:nvSpPr>
          <p:spPr>
            <a:xfrm>
              <a:off x="-82440" y="3072240"/>
              <a:ext cx="115164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 dirty="0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RECYCLER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0" name="Shape 38"/>
          <p:cNvSpPr/>
          <p:nvPr/>
        </p:nvSpPr>
        <p:spPr>
          <a:xfrm>
            <a:off x="6400800" y="1545120"/>
            <a:ext cx="360" cy="39592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39"/>
          <p:cNvSpPr/>
          <p:nvPr/>
        </p:nvSpPr>
        <p:spPr>
          <a:xfrm>
            <a:off x="6245280" y="1847160"/>
            <a:ext cx="310680" cy="310680"/>
          </a:xfrm>
          <a:prstGeom prst="ellipse">
            <a:avLst/>
          </a:prstGeom>
          <a:solidFill>
            <a:srgbClr val="35C6D0"/>
          </a:solidFill>
          <a:ln w="127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40"/>
          <p:cNvSpPr/>
          <p:nvPr/>
        </p:nvSpPr>
        <p:spPr>
          <a:xfrm>
            <a:off x="6812280" y="1801440"/>
            <a:ext cx="39772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HOME APPLIANCE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RECYCLING LAW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41"/>
          <p:cNvSpPr/>
          <p:nvPr/>
        </p:nvSpPr>
        <p:spPr>
          <a:xfrm>
            <a:off x="6245280" y="3255120"/>
            <a:ext cx="310680" cy="310680"/>
          </a:xfrm>
          <a:prstGeom prst="ellipse">
            <a:avLst/>
          </a:prstGeom>
          <a:solidFill>
            <a:srgbClr val="35C6D0"/>
          </a:solidFill>
          <a:ln w="127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42"/>
          <p:cNvSpPr/>
          <p:nvPr/>
        </p:nvSpPr>
        <p:spPr>
          <a:xfrm>
            <a:off x="6812280" y="3209400"/>
            <a:ext cx="39772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SMALL HOME APPLIANCE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RECYCLING LAW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43"/>
          <p:cNvSpPr/>
          <p:nvPr/>
        </p:nvSpPr>
        <p:spPr>
          <a:xfrm>
            <a:off x="6245280" y="4663440"/>
            <a:ext cx="310680" cy="310680"/>
          </a:xfrm>
          <a:prstGeom prst="ellipse">
            <a:avLst/>
          </a:prstGeom>
          <a:solidFill>
            <a:srgbClr val="35C6D0"/>
          </a:solidFill>
          <a:ln w="127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44"/>
          <p:cNvSpPr/>
          <p:nvPr/>
        </p:nvSpPr>
        <p:spPr>
          <a:xfrm>
            <a:off x="6812280" y="4617720"/>
            <a:ext cx="39772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SOUND MATERIAL-CYCLE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SOCIETY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5"/>
          <p:cNvSpPr/>
          <p:nvPr/>
        </p:nvSpPr>
        <p:spPr>
          <a:xfrm>
            <a:off x="6812280" y="5532120"/>
            <a:ext cx="4023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RESPONSIBILITY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FOLLOWS THE PRODUCT.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46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7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Ministry of the Environment, Government of Japan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86EEE6-45BC-4D2A-16CE-28CCECB86E82}"/>
              </a:ext>
            </a:extLst>
          </p:cNvPr>
          <p:cNvGrpSpPr/>
          <p:nvPr/>
        </p:nvGrpSpPr>
        <p:grpSpPr>
          <a:xfrm>
            <a:off x="742840" y="448560"/>
            <a:ext cx="292680" cy="182880"/>
            <a:chOff x="850320" y="411480"/>
            <a:chExt cx="292680" cy="182880"/>
          </a:xfrm>
        </p:grpSpPr>
        <p:sp>
          <p:nvSpPr>
            <p:cNvPr id="401" name="Shape 21"/>
            <p:cNvSpPr/>
            <p:nvPr/>
          </p:nvSpPr>
          <p:spPr>
            <a:xfrm>
              <a:off x="850320" y="411480"/>
              <a:ext cx="292680" cy="36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Shape 22"/>
            <p:cNvSpPr/>
            <p:nvPr/>
          </p:nvSpPr>
          <p:spPr>
            <a:xfrm>
              <a:off x="850320" y="411480"/>
              <a:ext cx="360" cy="18288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3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5"/>
          <p:cNvSpPr/>
          <p:nvPr/>
        </p:nvSpPr>
        <p:spPr>
          <a:xfrm>
            <a:off x="850320" y="50292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THE SYSTEM WORKS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BECAUSE THE PIECES CONNECT.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6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07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05800A-27B3-501C-1251-99E33894CD1D}"/>
              </a:ext>
            </a:extLst>
          </p:cNvPr>
          <p:cNvGrpSpPr/>
          <p:nvPr/>
        </p:nvGrpSpPr>
        <p:grpSpPr>
          <a:xfrm>
            <a:off x="4883040" y="2847894"/>
            <a:ext cx="2354220" cy="2331360"/>
            <a:chOff x="4919400" y="2057400"/>
            <a:chExt cx="2354220" cy="2331360"/>
          </a:xfrm>
        </p:grpSpPr>
        <p:sp>
          <p:nvSpPr>
            <p:cNvPr id="407" name="Shape 27"/>
            <p:cNvSpPr/>
            <p:nvPr/>
          </p:nvSpPr>
          <p:spPr>
            <a:xfrm>
              <a:off x="4919400" y="2057400"/>
              <a:ext cx="2331360" cy="2331360"/>
            </a:xfrm>
            <a:prstGeom prst="ellipse">
              <a:avLst/>
            </a:prstGeom>
            <a:solidFill>
              <a:srgbClr val="111C24"/>
            </a:solidFill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Text 28"/>
            <p:cNvSpPr/>
            <p:nvPr/>
          </p:nvSpPr>
          <p:spPr>
            <a:xfrm>
              <a:off x="4942260" y="2875680"/>
              <a:ext cx="2331360" cy="5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200" b="1" u="none" strike="noStrike" dirty="0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E-WASTE</a:t>
              </a:r>
              <a:endParaRPr lang="en-US" sz="22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200" b="1" u="none" strike="noStrike" dirty="0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MANAGEMENT</a:t>
              </a:r>
              <a:endParaRPr lang="en-US" sz="22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9" name="Shape 29"/>
          <p:cNvSpPr/>
          <p:nvPr/>
        </p:nvSpPr>
        <p:spPr>
          <a:xfrm>
            <a:off x="1170360" y="1645920"/>
            <a:ext cx="1298160" cy="1298160"/>
          </a:xfrm>
          <a:prstGeom prst="ellipse">
            <a:avLst/>
          </a:prstGeom>
          <a:solidFill>
            <a:srgbClr val="111C24"/>
          </a:solidFill>
          <a:ln w="1524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0"/>
          <p:cNvSpPr/>
          <p:nvPr/>
        </p:nvSpPr>
        <p:spPr>
          <a:xfrm>
            <a:off x="1005840" y="196596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POLICY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31"/>
          <p:cNvSpPr/>
          <p:nvPr/>
        </p:nvSpPr>
        <p:spPr>
          <a:xfrm>
            <a:off x="960120" y="2304360"/>
            <a:ext cx="1718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Clear rules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32"/>
          <p:cNvSpPr/>
          <p:nvPr/>
        </p:nvSpPr>
        <p:spPr>
          <a:xfrm>
            <a:off x="2514600" y="2304000"/>
            <a:ext cx="2304000" cy="1134000"/>
          </a:xfrm>
          <a:prstGeom prst="line">
            <a:avLst/>
          </a:prstGeom>
          <a:ln w="1270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33"/>
          <p:cNvSpPr/>
          <p:nvPr/>
        </p:nvSpPr>
        <p:spPr>
          <a:xfrm>
            <a:off x="8915400" y="1645920"/>
            <a:ext cx="1298160" cy="1298160"/>
          </a:xfrm>
          <a:prstGeom prst="ellipse">
            <a:avLst/>
          </a:prstGeom>
          <a:solidFill>
            <a:srgbClr val="111C24"/>
          </a:solidFill>
          <a:ln w="1524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34"/>
          <p:cNvSpPr/>
          <p:nvPr/>
        </p:nvSpPr>
        <p:spPr>
          <a:xfrm>
            <a:off x="8750880" y="196596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PEOPLE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35"/>
          <p:cNvSpPr/>
          <p:nvPr/>
        </p:nvSpPr>
        <p:spPr>
          <a:xfrm>
            <a:off x="8705160" y="2304360"/>
            <a:ext cx="1718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Correct segregation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6"/>
          <p:cNvSpPr/>
          <p:nvPr/>
        </p:nvSpPr>
        <p:spPr>
          <a:xfrm flipH="1">
            <a:off x="7260120" y="2304000"/>
            <a:ext cx="1609560" cy="1134000"/>
          </a:xfrm>
          <a:prstGeom prst="line">
            <a:avLst/>
          </a:prstGeom>
          <a:ln w="1270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37"/>
          <p:cNvSpPr/>
          <p:nvPr/>
        </p:nvSpPr>
        <p:spPr>
          <a:xfrm>
            <a:off x="1170360" y="4069080"/>
            <a:ext cx="1298160" cy="1298160"/>
          </a:xfrm>
          <a:prstGeom prst="ellipse">
            <a:avLst/>
          </a:prstGeom>
          <a:solidFill>
            <a:srgbClr val="111C24"/>
          </a:solidFill>
          <a:ln w="1524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38"/>
          <p:cNvSpPr/>
          <p:nvPr/>
        </p:nvSpPr>
        <p:spPr>
          <a:xfrm>
            <a:off x="1005840" y="438912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INDUSTRY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9"/>
          <p:cNvSpPr/>
          <p:nvPr/>
        </p:nvSpPr>
        <p:spPr>
          <a:xfrm>
            <a:off x="960120" y="4727520"/>
            <a:ext cx="1718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Collection + recycling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40"/>
          <p:cNvSpPr/>
          <p:nvPr/>
        </p:nvSpPr>
        <p:spPr>
          <a:xfrm flipV="1">
            <a:off x="2514600" y="4224240"/>
            <a:ext cx="2304000" cy="502920"/>
          </a:xfrm>
          <a:prstGeom prst="line">
            <a:avLst/>
          </a:prstGeom>
          <a:ln w="1270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41"/>
          <p:cNvSpPr/>
          <p:nvPr/>
        </p:nvSpPr>
        <p:spPr>
          <a:xfrm>
            <a:off x="8915400" y="4069080"/>
            <a:ext cx="1298160" cy="1298160"/>
          </a:xfrm>
          <a:prstGeom prst="ellipse">
            <a:avLst/>
          </a:prstGeom>
          <a:solidFill>
            <a:srgbClr val="111C24"/>
          </a:solidFill>
          <a:ln w="1524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42"/>
          <p:cNvSpPr/>
          <p:nvPr/>
        </p:nvSpPr>
        <p:spPr>
          <a:xfrm>
            <a:off x="8750880" y="438912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TECHNOLOGY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43"/>
          <p:cNvSpPr/>
          <p:nvPr/>
        </p:nvSpPr>
        <p:spPr>
          <a:xfrm>
            <a:off x="8705160" y="4727520"/>
            <a:ext cx="1718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Resource recovery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44"/>
          <p:cNvSpPr/>
          <p:nvPr/>
        </p:nvSpPr>
        <p:spPr>
          <a:xfrm flipH="1" flipV="1">
            <a:off x="7260120" y="4224240"/>
            <a:ext cx="1609560" cy="502920"/>
          </a:xfrm>
          <a:prstGeom prst="line">
            <a:avLst/>
          </a:prstGeom>
          <a:ln w="1270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45"/>
          <p:cNvSpPr/>
          <p:nvPr/>
        </p:nvSpPr>
        <p:spPr>
          <a:xfrm>
            <a:off x="914400" y="5815440"/>
            <a:ext cx="1051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POLICY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46"/>
          <p:cNvSpPr/>
          <p:nvPr/>
        </p:nvSpPr>
        <p:spPr>
          <a:xfrm>
            <a:off x="2011680" y="5943600"/>
            <a:ext cx="868680" cy="360"/>
          </a:xfrm>
          <a:prstGeom prst="line">
            <a:avLst/>
          </a:prstGeom>
          <a:ln w="1270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47"/>
          <p:cNvSpPr/>
          <p:nvPr/>
        </p:nvSpPr>
        <p:spPr>
          <a:xfrm>
            <a:off x="2999160" y="5815440"/>
            <a:ext cx="1051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BEHAVIOUR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48"/>
          <p:cNvSpPr/>
          <p:nvPr/>
        </p:nvSpPr>
        <p:spPr>
          <a:xfrm>
            <a:off x="4096440" y="5943600"/>
            <a:ext cx="978480" cy="360"/>
          </a:xfrm>
          <a:prstGeom prst="line">
            <a:avLst/>
          </a:prstGeom>
          <a:ln w="1270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49"/>
          <p:cNvSpPr/>
          <p:nvPr/>
        </p:nvSpPr>
        <p:spPr>
          <a:xfrm>
            <a:off x="5193720" y="5815440"/>
            <a:ext cx="1051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SEGREGATION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50"/>
          <p:cNvSpPr/>
          <p:nvPr/>
        </p:nvSpPr>
        <p:spPr>
          <a:xfrm>
            <a:off x="6291000" y="5943600"/>
            <a:ext cx="1014840" cy="360"/>
          </a:xfrm>
          <a:prstGeom prst="line">
            <a:avLst/>
          </a:prstGeom>
          <a:ln w="1270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1"/>
          <p:cNvSpPr/>
          <p:nvPr/>
        </p:nvSpPr>
        <p:spPr>
          <a:xfrm>
            <a:off x="7425000" y="581544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CLEANER MATERIAL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52"/>
          <p:cNvSpPr/>
          <p:nvPr/>
        </p:nvSpPr>
        <p:spPr>
          <a:xfrm>
            <a:off x="8906040" y="5943600"/>
            <a:ext cx="941760" cy="360"/>
          </a:xfrm>
          <a:prstGeom prst="line">
            <a:avLst/>
          </a:prstGeom>
          <a:ln w="1270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53"/>
          <p:cNvSpPr/>
          <p:nvPr/>
        </p:nvSpPr>
        <p:spPr>
          <a:xfrm>
            <a:off x="9966960" y="5815440"/>
            <a:ext cx="1051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RECOVERY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54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55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Ministry of the Environment, Government of Japan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9F9FAA-043B-D80F-B264-1D1807051CD2}"/>
              </a:ext>
            </a:extLst>
          </p:cNvPr>
          <p:cNvGrpSpPr/>
          <p:nvPr/>
        </p:nvGrpSpPr>
        <p:grpSpPr>
          <a:xfrm>
            <a:off x="749700" y="439200"/>
            <a:ext cx="292680" cy="182880"/>
            <a:chOff x="850320" y="411480"/>
            <a:chExt cx="292680" cy="182880"/>
          </a:xfrm>
        </p:grpSpPr>
        <p:sp>
          <p:nvSpPr>
            <p:cNvPr id="457" name="Shape 21"/>
            <p:cNvSpPr/>
            <p:nvPr/>
          </p:nvSpPr>
          <p:spPr>
            <a:xfrm>
              <a:off x="850320" y="411480"/>
              <a:ext cx="292680" cy="36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Shape 22"/>
            <p:cNvSpPr/>
            <p:nvPr/>
          </p:nvSpPr>
          <p:spPr>
            <a:xfrm>
              <a:off x="850320" y="411480"/>
              <a:ext cx="360" cy="18288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9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5"/>
          <p:cNvSpPr/>
          <p:nvPr/>
        </p:nvSpPr>
        <p:spPr>
          <a:xfrm>
            <a:off x="850320" y="50292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JAPAN’S WASTE SYSTEM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BY THE NUMBERS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26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08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27"/>
          <p:cNvSpPr/>
          <p:nvPr/>
        </p:nvSpPr>
        <p:spPr>
          <a:xfrm>
            <a:off x="5569380" y="677520"/>
            <a:ext cx="2998800" cy="392040"/>
          </a:xfrm>
          <a:prstGeom prst="roundRect">
            <a:avLst>
              <a:gd name="adj" fmla="val 357143"/>
            </a:avLst>
          </a:prstGeom>
          <a:solidFill>
            <a:srgbClr val="0B1117"/>
          </a:solidFill>
          <a:ln w="10160">
            <a:solidFill>
              <a:srgbClr val="D7F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8"/>
          <p:cNvSpPr/>
          <p:nvPr/>
        </p:nvSpPr>
        <p:spPr>
          <a:xfrm>
            <a:off x="5582880" y="785880"/>
            <a:ext cx="2998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 dirty="0">
                <a:solidFill>
                  <a:srgbClr val="D7F26B"/>
                </a:solidFill>
                <a:effectLst/>
                <a:uFillTx/>
                <a:latin typeface="Inter"/>
                <a:ea typeface="Inter"/>
              </a:rPr>
              <a:t>FY2024 MUNICIPAL WASTE · NOT E-WASTE-SPECIFIC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29"/>
          <p:cNvSpPr/>
          <p:nvPr/>
        </p:nvSpPr>
        <p:spPr>
          <a:xfrm>
            <a:off x="868680" y="1481400"/>
            <a:ext cx="5623200" cy="12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0" b="1" u="none" strike="noStrike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38.11M</a:t>
            </a:r>
            <a:endParaRPr lang="en-US" sz="7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30"/>
          <p:cNvSpPr/>
          <p:nvPr/>
        </p:nvSpPr>
        <p:spPr>
          <a:xfrm>
            <a:off x="951120" y="26974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spc="201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TONNES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1"/>
          <p:cNvSpPr/>
          <p:nvPr/>
        </p:nvSpPr>
        <p:spPr>
          <a:xfrm>
            <a:off x="6629400" y="1600200"/>
            <a:ext cx="360" cy="1846800"/>
          </a:xfrm>
          <a:prstGeom prst="line">
            <a:avLst/>
          </a:prstGeom>
          <a:ln w="1270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32"/>
          <p:cNvSpPr/>
          <p:nvPr/>
        </p:nvSpPr>
        <p:spPr>
          <a:xfrm>
            <a:off x="7040880" y="1572840"/>
            <a:ext cx="1627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19.3%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33"/>
          <p:cNvSpPr/>
          <p:nvPr/>
        </p:nvSpPr>
        <p:spPr>
          <a:xfrm>
            <a:off x="7040880" y="22312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MUNICIPAL RECYCLING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34"/>
          <p:cNvSpPr/>
          <p:nvPr/>
        </p:nvSpPr>
        <p:spPr>
          <a:xfrm>
            <a:off x="9006840" y="1572840"/>
            <a:ext cx="1627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99.2%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35"/>
          <p:cNvSpPr/>
          <p:nvPr/>
        </p:nvSpPr>
        <p:spPr>
          <a:xfrm>
            <a:off x="9006840" y="22312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WASTE REDUCTION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6"/>
          <p:cNvSpPr/>
          <p:nvPr/>
        </p:nvSpPr>
        <p:spPr>
          <a:xfrm>
            <a:off x="7040880" y="2834640"/>
            <a:ext cx="1627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0.8%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37"/>
          <p:cNvSpPr/>
          <p:nvPr/>
        </p:nvSpPr>
        <p:spPr>
          <a:xfrm>
            <a:off x="7040880" y="349308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DIRECT LANDFILL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38"/>
          <p:cNvSpPr/>
          <p:nvPr/>
        </p:nvSpPr>
        <p:spPr>
          <a:xfrm>
            <a:off x="8979480" y="2944440"/>
            <a:ext cx="1874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7.38M TONNES RECYCLED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39"/>
          <p:cNvSpPr/>
          <p:nvPr/>
        </p:nvSpPr>
        <p:spPr>
          <a:xfrm>
            <a:off x="868680" y="4187880"/>
            <a:ext cx="10469880" cy="360"/>
          </a:xfrm>
          <a:prstGeom prst="line">
            <a:avLst/>
          </a:prstGeom>
          <a:ln w="1270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40"/>
          <p:cNvSpPr/>
          <p:nvPr/>
        </p:nvSpPr>
        <p:spPr>
          <a:xfrm>
            <a:off x="914400" y="4480560"/>
            <a:ext cx="1279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991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41"/>
          <p:cNvSpPr/>
          <p:nvPr/>
        </p:nvSpPr>
        <p:spPr>
          <a:xfrm>
            <a:off x="1993320" y="457200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INCINERATION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PLANTS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42"/>
          <p:cNvSpPr/>
          <p:nvPr/>
        </p:nvSpPr>
        <p:spPr>
          <a:xfrm>
            <a:off x="3767040" y="4827960"/>
            <a:ext cx="914400" cy="360"/>
          </a:xfrm>
          <a:prstGeom prst="line">
            <a:avLst/>
          </a:prstGeom>
          <a:ln w="1905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43"/>
          <p:cNvSpPr/>
          <p:nvPr/>
        </p:nvSpPr>
        <p:spPr>
          <a:xfrm>
            <a:off x="4937760" y="4480560"/>
            <a:ext cx="13712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415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44"/>
          <p:cNvSpPr/>
          <p:nvPr/>
        </p:nvSpPr>
        <p:spPr>
          <a:xfrm>
            <a:off x="6080760" y="4572000"/>
            <a:ext cx="1572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WITH POWER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GENERATION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45"/>
          <p:cNvSpPr/>
          <p:nvPr/>
        </p:nvSpPr>
        <p:spPr>
          <a:xfrm>
            <a:off x="8074080" y="4425840"/>
            <a:ext cx="3245760" cy="978120"/>
          </a:xfrm>
          <a:prstGeom prst="rect">
            <a:avLst/>
          </a:prstGeom>
          <a:solidFill>
            <a:srgbClr val="111C24"/>
          </a:solidFill>
          <a:ln w="12700">
            <a:solidFill>
              <a:srgbClr val="D7F2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46"/>
          <p:cNvSpPr/>
          <p:nvPr/>
        </p:nvSpPr>
        <p:spPr>
          <a:xfrm>
            <a:off x="8302680" y="4645080"/>
            <a:ext cx="2788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7F26B"/>
                </a:solidFill>
                <a:effectLst/>
                <a:uFillTx/>
                <a:latin typeface="Inter"/>
                <a:ea typeface="Inter"/>
              </a:rPr>
              <a:t>THESE ARE MUNICIPAL WASTE FIGURES,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7F26B"/>
                </a:solidFill>
                <a:effectLst/>
                <a:uFillTx/>
                <a:latin typeface="Inter"/>
                <a:ea typeface="Inter"/>
              </a:rPr>
              <a:t>NOT JAPAN’S E-WASTE RECYCLING RATE.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47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48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Ministry of the Environment, Government of Japan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66999B-649C-FC91-2F8C-C182E52B0E54}"/>
              </a:ext>
            </a:extLst>
          </p:cNvPr>
          <p:cNvGrpSpPr/>
          <p:nvPr/>
        </p:nvGrpSpPr>
        <p:grpSpPr>
          <a:xfrm>
            <a:off x="649620" y="422671"/>
            <a:ext cx="292680" cy="182880"/>
            <a:chOff x="850320" y="411480"/>
            <a:chExt cx="292680" cy="182880"/>
          </a:xfrm>
        </p:grpSpPr>
        <p:sp>
          <p:nvSpPr>
            <p:cNvPr id="506" name="Shape 21"/>
            <p:cNvSpPr/>
            <p:nvPr/>
          </p:nvSpPr>
          <p:spPr>
            <a:xfrm>
              <a:off x="850320" y="411480"/>
              <a:ext cx="292680" cy="36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Shape 22"/>
            <p:cNvSpPr/>
            <p:nvPr/>
          </p:nvSpPr>
          <p:spPr>
            <a:xfrm>
              <a:off x="850320" y="411480"/>
              <a:ext cx="360" cy="18288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8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5"/>
          <p:cNvSpPr/>
          <p:nvPr/>
        </p:nvSpPr>
        <p:spPr>
          <a:xfrm>
            <a:off x="850320" y="50292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INDIA IS BUILDING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ITS OWN SYSTEM.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6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09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40"/>
          <p:cNvSpPr/>
          <p:nvPr/>
        </p:nvSpPr>
        <p:spPr>
          <a:xfrm>
            <a:off x="4815180" y="1417860"/>
            <a:ext cx="4172940" cy="5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E-WASTE (MANAGEMENT)</a:t>
            </a:r>
            <a:r>
              <a:rPr lang="en-US" sz="19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19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RULES, 2022</a:t>
            </a:r>
            <a:endParaRPr lang="en-US" sz="1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41"/>
          <p:cNvSpPr/>
          <p:nvPr/>
        </p:nvSpPr>
        <p:spPr>
          <a:xfrm>
            <a:off x="4882680" y="229320"/>
            <a:ext cx="28800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0" b="1" u="none" strike="noStrike" dirty="0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EPR</a:t>
            </a:r>
            <a:endParaRPr lang="en-US" sz="7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42"/>
          <p:cNvSpPr/>
          <p:nvPr/>
        </p:nvSpPr>
        <p:spPr>
          <a:xfrm>
            <a:off x="6698160" y="538025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EXTENDED PRODUCER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RESPONSIBILITY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B562E2-7412-D9FE-BE8C-CF4C2F3FECF9}"/>
              </a:ext>
            </a:extLst>
          </p:cNvPr>
          <p:cNvGrpSpPr/>
          <p:nvPr/>
        </p:nvGrpSpPr>
        <p:grpSpPr>
          <a:xfrm>
            <a:off x="942300" y="4869720"/>
            <a:ext cx="9692280" cy="585000"/>
            <a:chOff x="868680" y="4078080"/>
            <a:chExt cx="9692280" cy="585000"/>
          </a:xfrm>
        </p:grpSpPr>
        <p:sp>
          <p:nvSpPr>
            <p:cNvPr id="528" name="Shape 43"/>
            <p:cNvSpPr/>
            <p:nvPr/>
          </p:nvSpPr>
          <p:spPr>
            <a:xfrm>
              <a:off x="868680" y="4078080"/>
              <a:ext cx="1535760" cy="585000"/>
            </a:xfrm>
            <a:prstGeom prst="rect">
              <a:avLst/>
            </a:prstGeom>
            <a:solidFill>
              <a:srgbClr val="111C24"/>
            </a:solidFill>
            <a:ln w="127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Text 44"/>
            <p:cNvSpPr/>
            <p:nvPr/>
          </p:nvSpPr>
          <p:spPr>
            <a:xfrm>
              <a:off x="868680" y="4251960"/>
              <a:ext cx="15357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MANUFACTURER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Shape 45"/>
            <p:cNvSpPr/>
            <p:nvPr/>
          </p:nvSpPr>
          <p:spPr>
            <a:xfrm>
              <a:off x="2441160" y="4370760"/>
              <a:ext cx="402480" cy="360"/>
            </a:xfrm>
            <a:prstGeom prst="line">
              <a:avLst/>
            </a:prstGeom>
            <a:ln w="15240">
              <a:solidFill>
                <a:srgbClr val="35C6D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Shape 46"/>
            <p:cNvSpPr/>
            <p:nvPr/>
          </p:nvSpPr>
          <p:spPr>
            <a:xfrm>
              <a:off x="2907720" y="4078080"/>
              <a:ext cx="1535760" cy="585000"/>
            </a:xfrm>
            <a:prstGeom prst="rect">
              <a:avLst/>
            </a:prstGeom>
            <a:solidFill>
              <a:srgbClr val="111C24"/>
            </a:solidFill>
            <a:ln w="127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Text 47"/>
            <p:cNvSpPr/>
            <p:nvPr/>
          </p:nvSpPr>
          <p:spPr>
            <a:xfrm>
              <a:off x="2907720" y="4251960"/>
              <a:ext cx="15357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PRODUCER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Shape 48"/>
            <p:cNvSpPr/>
            <p:nvPr/>
          </p:nvSpPr>
          <p:spPr>
            <a:xfrm>
              <a:off x="4480560" y="4370760"/>
              <a:ext cx="402120" cy="360"/>
            </a:xfrm>
            <a:prstGeom prst="line">
              <a:avLst/>
            </a:prstGeom>
            <a:ln w="15240">
              <a:solidFill>
                <a:srgbClr val="35C6D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Shape 49"/>
            <p:cNvSpPr/>
            <p:nvPr/>
          </p:nvSpPr>
          <p:spPr>
            <a:xfrm>
              <a:off x="4946760" y="4078080"/>
              <a:ext cx="1535760" cy="585000"/>
            </a:xfrm>
            <a:prstGeom prst="rect">
              <a:avLst/>
            </a:prstGeom>
            <a:solidFill>
              <a:srgbClr val="111C24"/>
            </a:solidFill>
            <a:ln w="127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Text 50"/>
            <p:cNvSpPr/>
            <p:nvPr/>
          </p:nvSpPr>
          <p:spPr>
            <a:xfrm>
              <a:off x="4946760" y="4251960"/>
              <a:ext cx="15357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REFURBISHER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Shape 51"/>
            <p:cNvSpPr/>
            <p:nvPr/>
          </p:nvSpPr>
          <p:spPr>
            <a:xfrm>
              <a:off x="6519600" y="4370760"/>
              <a:ext cx="402120" cy="360"/>
            </a:xfrm>
            <a:prstGeom prst="line">
              <a:avLst/>
            </a:prstGeom>
            <a:ln w="15240">
              <a:solidFill>
                <a:srgbClr val="35C6D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Shape 52"/>
            <p:cNvSpPr/>
            <p:nvPr/>
          </p:nvSpPr>
          <p:spPr>
            <a:xfrm>
              <a:off x="6986160" y="4078080"/>
              <a:ext cx="1535760" cy="585000"/>
            </a:xfrm>
            <a:prstGeom prst="rect">
              <a:avLst/>
            </a:prstGeom>
            <a:solidFill>
              <a:srgbClr val="111C24"/>
            </a:solidFill>
            <a:ln w="127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Text 53"/>
            <p:cNvSpPr/>
            <p:nvPr/>
          </p:nvSpPr>
          <p:spPr>
            <a:xfrm>
              <a:off x="6986160" y="4251960"/>
              <a:ext cx="15357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DISMANTLER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Shape 54"/>
            <p:cNvSpPr/>
            <p:nvPr/>
          </p:nvSpPr>
          <p:spPr>
            <a:xfrm>
              <a:off x="8558640" y="4370760"/>
              <a:ext cx="402480" cy="360"/>
            </a:xfrm>
            <a:prstGeom prst="line">
              <a:avLst/>
            </a:prstGeom>
            <a:ln w="15240">
              <a:solidFill>
                <a:srgbClr val="35C6D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Shape 55"/>
            <p:cNvSpPr/>
            <p:nvPr/>
          </p:nvSpPr>
          <p:spPr>
            <a:xfrm>
              <a:off x="9025200" y="4078080"/>
              <a:ext cx="1535760" cy="585000"/>
            </a:xfrm>
            <a:prstGeom prst="rect">
              <a:avLst/>
            </a:prstGeom>
            <a:solidFill>
              <a:srgbClr val="111C24"/>
            </a:solidFill>
            <a:ln w="12700">
              <a:solidFill>
                <a:srgbClr val="73D6A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Text 56"/>
            <p:cNvSpPr/>
            <p:nvPr/>
          </p:nvSpPr>
          <p:spPr>
            <a:xfrm>
              <a:off x="9025200" y="4251960"/>
              <a:ext cx="15357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F2F6F7"/>
                  </a:solidFill>
                  <a:effectLst/>
                  <a:uFillTx/>
                  <a:latin typeface="Inter"/>
                  <a:ea typeface="Inter"/>
                </a:rPr>
                <a:t>RECYCLER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3" name="Text 58"/>
          <p:cNvSpPr/>
          <p:nvPr/>
        </p:nvSpPr>
        <p:spPr>
          <a:xfrm>
            <a:off x="1938259" y="59259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FORMAL RECYCLING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59"/>
          <p:cNvSpPr/>
          <p:nvPr/>
        </p:nvSpPr>
        <p:spPr>
          <a:xfrm>
            <a:off x="5057100" y="589824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↔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60"/>
          <p:cNvSpPr/>
          <p:nvPr/>
        </p:nvSpPr>
        <p:spPr>
          <a:xfrm>
            <a:off x="6263460" y="59259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EXISTING INFORMAL ECOSYSTEM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61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62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Government of India — MoEFCC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2A484-5634-F1B2-F20B-5196A67C2B23}"/>
              </a:ext>
            </a:extLst>
          </p:cNvPr>
          <p:cNvSpPr txBox="1"/>
          <p:nvPr/>
        </p:nvSpPr>
        <p:spPr>
          <a:xfrm>
            <a:off x="4725734" y="2148480"/>
            <a:ext cx="57191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b="1" dirty="0">
                <a:solidFill>
                  <a:srgbClr val="F2F6F7"/>
                </a:solidFill>
                <a:latin typeface="Inter"/>
              </a:rPr>
              <a:t>Producer is responsible for the product even after it becomes waste. </a:t>
            </a:r>
          </a:p>
          <a:p>
            <a:pPr marL="285750" lvl="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b="1" dirty="0">
                <a:solidFill>
                  <a:srgbClr val="F2F6F7"/>
                </a:solidFill>
                <a:latin typeface="Inter"/>
              </a:rPr>
              <a:t>Ensures collection, recycling &amp; safe disposal of e-waste. </a:t>
            </a:r>
          </a:p>
          <a:p>
            <a:pPr marL="285750" lvl="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b="1" dirty="0">
                <a:solidFill>
                  <a:srgbClr val="F2F6F7"/>
                </a:solidFill>
                <a:latin typeface="Inter"/>
              </a:rPr>
              <a:t>Encourages repair, reuse and recyclable product design. </a:t>
            </a:r>
          </a:p>
          <a:p>
            <a:pPr marL="285750" lvl="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b="1" dirty="0">
                <a:solidFill>
                  <a:srgbClr val="F2F6F7"/>
                </a:solidFill>
                <a:latin typeface="Inter"/>
              </a:rPr>
              <a:t>Makes manufacturers accountable for their e-waste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b="1" dirty="0">
                <a:solidFill>
                  <a:srgbClr val="F2F6F7"/>
                </a:solidFill>
                <a:latin typeface="Inter"/>
              </a:rPr>
              <a:t>India implements EPR through the E-Waste Management Rules, 2022.</a:t>
            </a:r>
          </a:p>
          <a:p>
            <a:endParaRPr lang="en-IN" dirty="0"/>
          </a:p>
        </p:txBody>
      </p:sp>
      <p:pic>
        <p:nvPicPr>
          <p:cNvPr id="5" name="Picture 4" descr="Understanding EPR for Plastic Waste Management">
            <a:extLst>
              <a:ext uri="{FF2B5EF4-FFF2-40B4-BE49-F238E27FC236}">
                <a16:creationId xmlns:a16="http://schemas.microsoft.com/office/drawing/2014/main" id="{7D6F1EFC-FB00-BE77-280A-2348192A5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34" y="1713012"/>
            <a:ext cx="3680832" cy="25507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3E9292-7EE1-8B40-68D2-424DFF3B9FED}"/>
              </a:ext>
            </a:extLst>
          </p:cNvPr>
          <p:cNvGrpSpPr/>
          <p:nvPr/>
        </p:nvGrpSpPr>
        <p:grpSpPr>
          <a:xfrm>
            <a:off x="703620" y="411480"/>
            <a:ext cx="292680" cy="182880"/>
            <a:chOff x="850320" y="411480"/>
            <a:chExt cx="292680" cy="182880"/>
          </a:xfrm>
        </p:grpSpPr>
        <p:sp>
          <p:nvSpPr>
            <p:cNvPr id="569" name="Shape 21"/>
            <p:cNvSpPr/>
            <p:nvPr/>
          </p:nvSpPr>
          <p:spPr>
            <a:xfrm>
              <a:off x="850320" y="411480"/>
              <a:ext cx="292680" cy="36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Shape 22"/>
            <p:cNvSpPr/>
            <p:nvPr/>
          </p:nvSpPr>
          <p:spPr>
            <a:xfrm>
              <a:off x="850320" y="411480"/>
              <a:ext cx="360" cy="182880"/>
            </a:xfrm>
            <a:prstGeom prst="line">
              <a:avLst/>
            </a:prstGeom>
            <a:ln w="25400">
              <a:solidFill>
                <a:srgbClr val="35C6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1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25"/>
          <p:cNvSpPr/>
          <p:nvPr/>
        </p:nvSpPr>
        <p:spPr>
          <a:xfrm>
            <a:off x="850320" y="50292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SAME PROBLEM.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DIFFERENT CONTEXT.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26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10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27"/>
          <p:cNvSpPr/>
          <p:nvPr/>
        </p:nvSpPr>
        <p:spPr>
          <a:xfrm>
            <a:off x="6089760" y="1407960"/>
            <a:ext cx="360" cy="4553640"/>
          </a:xfrm>
          <a:prstGeom prst="line">
            <a:avLst/>
          </a:prstGeom>
          <a:ln w="1524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28"/>
          <p:cNvSpPr/>
          <p:nvPr/>
        </p:nvSpPr>
        <p:spPr>
          <a:xfrm>
            <a:off x="914400" y="15728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JAPAN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47"/>
          <p:cNvSpPr/>
          <p:nvPr/>
        </p:nvSpPr>
        <p:spPr>
          <a:xfrm>
            <a:off x="9235440" y="15728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INDIA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61"/>
          <p:cNvSpPr/>
          <p:nvPr/>
        </p:nvSpPr>
        <p:spPr>
          <a:xfrm>
            <a:off x="914400" y="2468880"/>
            <a:ext cx="4297320" cy="20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3R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PRODUCT-SPECIFIC LAWS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STRUCTURED COLLECTION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MATURE INFRASTRUCTURE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62"/>
          <p:cNvSpPr/>
          <p:nvPr/>
        </p:nvSpPr>
        <p:spPr>
          <a:xfrm>
            <a:off x="7086600" y="2468880"/>
            <a:ext cx="4205880" cy="20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EPR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FORMAL + INFORMAL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EXPANDING INFRASTRUCTURE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LARGE SCALE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63"/>
          <p:cNvSpPr/>
          <p:nvPr/>
        </p:nvSpPr>
        <p:spPr>
          <a:xfrm>
            <a:off x="5010840" y="2853000"/>
            <a:ext cx="2157480" cy="1243080"/>
          </a:xfrm>
          <a:prstGeom prst="rect">
            <a:avLst/>
          </a:prstGeom>
          <a:solidFill>
            <a:srgbClr val="0B1117"/>
          </a:solidFill>
          <a:ln w="2032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64"/>
          <p:cNvSpPr/>
          <p:nvPr/>
        </p:nvSpPr>
        <p:spPr>
          <a:xfrm>
            <a:off x="5010840" y="3090600"/>
            <a:ext cx="21574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ADAPT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≠ COPY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65"/>
          <p:cNvSpPr/>
          <p:nvPr/>
        </p:nvSpPr>
        <p:spPr>
          <a:xfrm>
            <a:off x="914400" y="491940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5C6D0"/>
                </a:solidFill>
                <a:effectLst/>
                <a:uFillTx/>
                <a:latin typeface="Inter"/>
                <a:ea typeface="Inter"/>
              </a:rPr>
              <a:t>JAPAN → MATURE SYSTEM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66"/>
          <p:cNvSpPr/>
          <p:nvPr/>
        </p:nvSpPr>
        <p:spPr>
          <a:xfrm>
            <a:off x="7040880" y="491940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INDIA → EXPANDING SYSTEM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67"/>
          <p:cNvSpPr/>
          <p:nvPr/>
        </p:nvSpPr>
        <p:spPr>
          <a:xfrm>
            <a:off x="914400" y="5532120"/>
            <a:ext cx="10378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PRINCIPLES CAN TRAVEL. INFRASTRUCTURE MUST FIT THE CONTEXT.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68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69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Ministry of the Environment, Government of Japan · Government of India — MoEFCC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 descr="Japan map outline silhouette. Black and white concept. 52063441 ...">
            <a:extLst>
              <a:ext uri="{FF2B5EF4-FFF2-40B4-BE49-F238E27FC236}">
                <a16:creationId xmlns:a16="http://schemas.microsoft.com/office/drawing/2014/main" id="{AE4FCACB-C022-5A5F-B4A2-08A222B12B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31585" y="622880"/>
            <a:ext cx="2680830" cy="26808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EB7195-B1EF-ADF4-DC69-2168A3A55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182" y="740880"/>
            <a:ext cx="2480198" cy="2558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0"/>
          <p:cNvSpPr/>
          <p:nvPr/>
        </p:nvSpPr>
        <p:spPr>
          <a:xfrm>
            <a:off x="8503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1"/>
          <p:cNvSpPr/>
          <p:nvPr/>
        </p:nvSpPr>
        <p:spPr>
          <a:xfrm>
            <a:off x="17280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2"/>
          <p:cNvSpPr/>
          <p:nvPr/>
        </p:nvSpPr>
        <p:spPr>
          <a:xfrm>
            <a:off x="26060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3"/>
          <p:cNvSpPr/>
          <p:nvPr/>
        </p:nvSpPr>
        <p:spPr>
          <a:xfrm>
            <a:off x="34837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4"/>
          <p:cNvSpPr/>
          <p:nvPr/>
        </p:nvSpPr>
        <p:spPr>
          <a:xfrm>
            <a:off x="436140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5"/>
          <p:cNvSpPr/>
          <p:nvPr/>
        </p:nvSpPr>
        <p:spPr>
          <a:xfrm>
            <a:off x="52394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6"/>
          <p:cNvSpPr/>
          <p:nvPr/>
        </p:nvSpPr>
        <p:spPr>
          <a:xfrm>
            <a:off x="61171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7"/>
          <p:cNvSpPr/>
          <p:nvPr/>
        </p:nvSpPr>
        <p:spPr>
          <a:xfrm>
            <a:off x="69951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8"/>
          <p:cNvSpPr/>
          <p:nvPr/>
        </p:nvSpPr>
        <p:spPr>
          <a:xfrm>
            <a:off x="78728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9"/>
          <p:cNvSpPr/>
          <p:nvPr/>
        </p:nvSpPr>
        <p:spPr>
          <a:xfrm>
            <a:off x="875052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10"/>
          <p:cNvSpPr/>
          <p:nvPr/>
        </p:nvSpPr>
        <p:spPr>
          <a:xfrm>
            <a:off x="962856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11"/>
          <p:cNvSpPr/>
          <p:nvPr/>
        </p:nvSpPr>
        <p:spPr>
          <a:xfrm>
            <a:off x="10506240" y="411480"/>
            <a:ext cx="360" cy="5989320"/>
          </a:xfrm>
          <a:prstGeom prst="line">
            <a:avLst/>
          </a:prstGeom>
          <a:ln w="3175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12"/>
          <p:cNvSpPr/>
          <p:nvPr/>
        </p:nvSpPr>
        <p:spPr>
          <a:xfrm>
            <a:off x="850320" y="5029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3"/>
          <p:cNvSpPr/>
          <p:nvPr/>
        </p:nvSpPr>
        <p:spPr>
          <a:xfrm>
            <a:off x="850320" y="12344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14"/>
          <p:cNvSpPr/>
          <p:nvPr/>
        </p:nvSpPr>
        <p:spPr>
          <a:xfrm>
            <a:off x="850320" y="19659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15"/>
          <p:cNvSpPr/>
          <p:nvPr/>
        </p:nvSpPr>
        <p:spPr>
          <a:xfrm>
            <a:off x="850320" y="26974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16"/>
          <p:cNvSpPr/>
          <p:nvPr/>
        </p:nvSpPr>
        <p:spPr>
          <a:xfrm>
            <a:off x="850320" y="342900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17"/>
          <p:cNvSpPr/>
          <p:nvPr/>
        </p:nvSpPr>
        <p:spPr>
          <a:xfrm>
            <a:off x="850320" y="416052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18"/>
          <p:cNvSpPr/>
          <p:nvPr/>
        </p:nvSpPr>
        <p:spPr>
          <a:xfrm>
            <a:off x="850320" y="489204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9"/>
          <p:cNvSpPr/>
          <p:nvPr/>
        </p:nvSpPr>
        <p:spPr>
          <a:xfrm>
            <a:off x="850320" y="562356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20"/>
          <p:cNvSpPr/>
          <p:nvPr/>
        </p:nvSpPr>
        <p:spPr>
          <a:xfrm>
            <a:off x="850320" y="6355080"/>
            <a:ext cx="10488240" cy="360"/>
          </a:xfrm>
          <a:prstGeom prst="line">
            <a:avLst/>
          </a:prstGeom>
          <a:ln w="2540">
            <a:solidFill>
              <a:srgbClr val="26364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21"/>
          <p:cNvSpPr/>
          <p:nvPr/>
        </p:nvSpPr>
        <p:spPr>
          <a:xfrm>
            <a:off x="85032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22"/>
          <p:cNvSpPr/>
          <p:nvPr/>
        </p:nvSpPr>
        <p:spPr>
          <a:xfrm>
            <a:off x="85032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23"/>
          <p:cNvSpPr/>
          <p:nvPr/>
        </p:nvSpPr>
        <p:spPr>
          <a:xfrm>
            <a:off x="11045880" y="411480"/>
            <a:ext cx="292680" cy="36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24"/>
          <p:cNvSpPr/>
          <p:nvPr/>
        </p:nvSpPr>
        <p:spPr>
          <a:xfrm>
            <a:off x="11338560" y="411480"/>
            <a:ext cx="360" cy="182880"/>
          </a:xfrm>
          <a:prstGeom prst="line">
            <a:avLst/>
          </a:prstGeom>
          <a:ln w="2540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25"/>
          <p:cNvSpPr/>
          <p:nvPr/>
        </p:nvSpPr>
        <p:spPr>
          <a:xfrm>
            <a:off x="850320" y="502920"/>
            <a:ext cx="8137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WHAT SHOULD INDIA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TAKE FROM JAPAN?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26"/>
          <p:cNvSpPr/>
          <p:nvPr/>
        </p:nvSpPr>
        <p:spPr>
          <a:xfrm>
            <a:off x="10469880" y="56700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11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27"/>
          <p:cNvSpPr/>
          <p:nvPr/>
        </p:nvSpPr>
        <p:spPr>
          <a:xfrm flipV="1">
            <a:off x="1398960" y="2130480"/>
            <a:ext cx="1353240" cy="612720"/>
          </a:xfrm>
          <a:prstGeom prst="line">
            <a:avLst/>
          </a:prstGeom>
          <a:ln w="2032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28"/>
          <p:cNvSpPr/>
          <p:nvPr/>
        </p:nvSpPr>
        <p:spPr>
          <a:xfrm>
            <a:off x="3319200" y="2130480"/>
            <a:ext cx="1353240" cy="612720"/>
          </a:xfrm>
          <a:prstGeom prst="line">
            <a:avLst/>
          </a:prstGeom>
          <a:ln w="2032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29"/>
          <p:cNvSpPr/>
          <p:nvPr/>
        </p:nvSpPr>
        <p:spPr>
          <a:xfrm flipV="1">
            <a:off x="5239440" y="2130480"/>
            <a:ext cx="1353240" cy="612720"/>
          </a:xfrm>
          <a:prstGeom prst="line">
            <a:avLst/>
          </a:prstGeom>
          <a:ln w="2032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30"/>
          <p:cNvSpPr/>
          <p:nvPr/>
        </p:nvSpPr>
        <p:spPr>
          <a:xfrm>
            <a:off x="7159680" y="2130480"/>
            <a:ext cx="1353240" cy="612720"/>
          </a:xfrm>
          <a:prstGeom prst="line">
            <a:avLst/>
          </a:prstGeom>
          <a:ln w="2032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31"/>
          <p:cNvSpPr/>
          <p:nvPr/>
        </p:nvSpPr>
        <p:spPr>
          <a:xfrm flipV="1">
            <a:off x="9079920" y="2130480"/>
            <a:ext cx="1353240" cy="612720"/>
          </a:xfrm>
          <a:prstGeom prst="line">
            <a:avLst/>
          </a:prstGeom>
          <a:ln w="20320">
            <a:solidFill>
              <a:srgbClr val="35C6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32"/>
          <p:cNvSpPr/>
          <p:nvPr/>
        </p:nvSpPr>
        <p:spPr>
          <a:xfrm>
            <a:off x="960120" y="2487240"/>
            <a:ext cx="529920" cy="529920"/>
          </a:xfrm>
          <a:prstGeom prst="ellipse">
            <a:avLst/>
          </a:prstGeom>
          <a:solidFill>
            <a:srgbClr val="111C24"/>
          </a:solidFill>
          <a:ln w="1651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33"/>
          <p:cNvSpPr/>
          <p:nvPr/>
        </p:nvSpPr>
        <p:spPr>
          <a:xfrm>
            <a:off x="960120" y="262440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34"/>
          <p:cNvSpPr/>
          <p:nvPr/>
        </p:nvSpPr>
        <p:spPr>
          <a:xfrm>
            <a:off x="685800" y="3154680"/>
            <a:ext cx="10785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COLLECT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35"/>
          <p:cNvSpPr/>
          <p:nvPr/>
        </p:nvSpPr>
        <p:spPr>
          <a:xfrm>
            <a:off x="411480" y="3474720"/>
            <a:ext cx="16272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Accessible collection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36"/>
          <p:cNvSpPr/>
          <p:nvPr/>
        </p:nvSpPr>
        <p:spPr>
          <a:xfrm>
            <a:off x="2880360" y="1874520"/>
            <a:ext cx="529920" cy="529920"/>
          </a:xfrm>
          <a:prstGeom prst="ellipse">
            <a:avLst/>
          </a:prstGeom>
          <a:solidFill>
            <a:srgbClr val="111C24"/>
          </a:solidFill>
          <a:ln w="1651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37"/>
          <p:cNvSpPr/>
          <p:nvPr/>
        </p:nvSpPr>
        <p:spPr>
          <a:xfrm>
            <a:off x="2880360" y="201168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38"/>
          <p:cNvSpPr/>
          <p:nvPr/>
        </p:nvSpPr>
        <p:spPr>
          <a:xfrm>
            <a:off x="2606040" y="2541960"/>
            <a:ext cx="10785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SEGREGATE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39"/>
          <p:cNvSpPr/>
          <p:nvPr/>
        </p:nvSpPr>
        <p:spPr>
          <a:xfrm>
            <a:off x="2331720" y="2862000"/>
            <a:ext cx="16272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Keep devices out of mixed waste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40"/>
          <p:cNvSpPr/>
          <p:nvPr/>
        </p:nvSpPr>
        <p:spPr>
          <a:xfrm>
            <a:off x="4800600" y="2487240"/>
            <a:ext cx="529920" cy="529920"/>
          </a:xfrm>
          <a:prstGeom prst="ellipse">
            <a:avLst/>
          </a:prstGeom>
          <a:solidFill>
            <a:srgbClr val="111C24"/>
          </a:solidFill>
          <a:ln w="1651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41"/>
          <p:cNvSpPr/>
          <p:nvPr/>
        </p:nvSpPr>
        <p:spPr>
          <a:xfrm>
            <a:off x="4800600" y="262440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42"/>
          <p:cNvSpPr/>
          <p:nvPr/>
        </p:nvSpPr>
        <p:spPr>
          <a:xfrm>
            <a:off x="4526280" y="3154680"/>
            <a:ext cx="10785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REPAIR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43"/>
          <p:cNvSpPr/>
          <p:nvPr/>
        </p:nvSpPr>
        <p:spPr>
          <a:xfrm>
            <a:off x="4251960" y="3474720"/>
            <a:ext cx="16272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Extend product life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44"/>
          <p:cNvSpPr/>
          <p:nvPr/>
        </p:nvSpPr>
        <p:spPr>
          <a:xfrm>
            <a:off x="6720840" y="1874520"/>
            <a:ext cx="529920" cy="529920"/>
          </a:xfrm>
          <a:prstGeom prst="ellipse">
            <a:avLst/>
          </a:prstGeom>
          <a:solidFill>
            <a:srgbClr val="111C24"/>
          </a:solidFill>
          <a:ln w="1651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45"/>
          <p:cNvSpPr/>
          <p:nvPr/>
        </p:nvSpPr>
        <p:spPr>
          <a:xfrm>
            <a:off x="6720840" y="201168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46"/>
          <p:cNvSpPr/>
          <p:nvPr/>
        </p:nvSpPr>
        <p:spPr>
          <a:xfrm>
            <a:off x="6446520" y="2541960"/>
            <a:ext cx="10785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RECYCLE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47"/>
          <p:cNvSpPr/>
          <p:nvPr/>
        </p:nvSpPr>
        <p:spPr>
          <a:xfrm>
            <a:off x="6172200" y="2862000"/>
            <a:ext cx="16272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Expand authorized recycling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48"/>
          <p:cNvSpPr/>
          <p:nvPr/>
        </p:nvSpPr>
        <p:spPr>
          <a:xfrm>
            <a:off x="8641080" y="2487240"/>
            <a:ext cx="529920" cy="529920"/>
          </a:xfrm>
          <a:prstGeom prst="ellipse">
            <a:avLst/>
          </a:prstGeom>
          <a:solidFill>
            <a:srgbClr val="111C24"/>
          </a:solidFill>
          <a:ln w="16510">
            <a:solidFill>
              <a:srgbClr val="35C6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49"/>
          <p:cNvSpPr/>
          <p:nvPr/>
        </p:nvSpPr>
        <p:spPr>
          <a:xfrm>
            <a:off x="8641080" y="262440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50"/>
          <p:cNvSpPr/>
          <p:nvPr/>
        </p:nvSpPr>
        <p:spPr>
          <a:xfrm>
            <a:off x="8366760" y="3154680"/>
            <a:ext cx="10785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TRACK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51"/>
          <p:cNvSpPr/>
          <p:nvPr/>
        </p:nvSpPr>
        <p:spPr>
          <a:xfrm>
            <a:off x="8092440" y="3474720"/>
            <a:ext cx="16272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Digital lifecycle visibility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52"/>
          <p:cNvSpPr/>
          <p:nvPr/>
        </p:nvSpPr>
        <p:spPr>
          <a:xfrm>
            <a:off x="10561320" y="1874520"/>
            <a:ext cx="529920" cy="529920"/>
          </a:xfrm>
          <a:prstGeom prst="ellipse">
            <a:avLst/>
          </a:prstGeom>
          <a:solidFill>
            <a:srgbClr val="111C24"/>
          </a:solidFill>
          <a:ln w="1651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53"/>
          <p:cNvSpPr/>
          <p:nvPr/>
        </p:nvSpPr>
        <p:spPr>
          <a:xfrm>
            <a:off x="10561320" y="2011680"/>
            <a:ext cx="529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54"/>
          <p:cNvSpPr/>
          <p:nvPr/>
        </p:nvSpPr>
        <p:spPr>
          <a:xfrm>
            <a:off x="10287000" y="2541960"/>
            <a:ext cx="10785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RECOVER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55"/>
          <p:cNvSpPr/>
          <p:nvPr/>
        </p:nvSpPr>
        <p:spPr>
          <a:xfrm>
            <a:off x="10012680" y="2862000"/>
            <a:ext cx="16272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Return value to the economy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56"/>
          <p:cNvSpPr/>
          <p:nvPr/>
        </p:nvSpPr>
        <p:spPr>
          <a:xfrm>
            <a:off x="868680" y="4462200"/>
            <a:ext cx="55591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E-WASTE MANAGEMENT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2F6F7"/>
                </a:solidFill>
                <a:effectLst/>
                <a:uFillTx/>
                <a:latin typeface="Inter"/>
                <a:ea typeface="Inter"/>
              </a:rPr>
              <a:t>IS NOT JUST RECYCLING.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57"/>
          <p:cNvSpPr/>
          <p:nvPr/>
        </p:nvSpPr>
        <p:spPr>
          <a:xfrm>
            <a:off x="896040" y="5321880"/>
            <a:ext cx="54403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It is a connected system of behaviour, collection,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responsibility, treatment and resource recovery.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58"/>
          <p:cNvSpPr/>
          <p:nvPr/>
        </p:nvSpPr>
        <p:spPr>
          <a:xfrm>
            <a:off x="6931080" y="4507920"/>
            <a:ext cx="4388760" cy="1371240"/>
          </a:xfrm>
          <a:prstGeom prst="rect">
            <a:avLst/>
          </a:prstGeom>
          <a:solidFill>
            <a:srgbClr val="111C24"/>
          </a:solidFill>
          <a:ln w="17780">
            <a:solidFill>
              <a:srgbClr val="73D6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59"/>
          <p:cNvSpPr/>
          <p:nvPr/>
        </p:nvSpPr>
        <p:spPr>
          <a:xfrm>
            <a:off x="7223760" y="47275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50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JAPAN’S LESSON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60"/>
          <p:cNvSpPr/>
          <p:nvPr/>
        </p:nvSpPr>
        <p:spPr>
          <a:xfrm>
            <a:off x="7223760" y="5047560"/>
            <a:ext cx="3702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ADAPT THE PRINCIPLES.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73D6A3"/>
                </a:solidFill>
                <a:effectLst/>
                <a:uFillTx/>
                <a:latin typeface="Inter"/>
                <a:ea typeface="Inter"/>
              </a:rPr>
              <a:t>DESIGN FOR INDIA.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61"/>
          <p:cNvSpPr/>
          <p:nvPr/>
        </p:nvSpPr>
        <p:spPr>
          <a:xfrm>
            <a:off x="850320" y="6446520"/>
            <a:ext cx="10488240" cy="360"/>
          </a:xfrm>
          <a:prstGeom prst="line">
            <a:avLst/>
          </a:prstGeom>
          <a:ln w="7620">
            <a:solidFill>
              <a:srgbClr val="2636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62"/>
          <p:cNvSpPr/>
          <p:nvPr/>
        </p:nvSpPr>
        <p:spPr>
          <a:xfrm>
            <a:off x="850320" y="6510600"/>
            <a:ext cx="905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51">
                <a:solidFill>
                  <a:srgbClr val="9AAAB2"/>
                </a:solidFill>
                <a:effectLst/>
                <a:uFillTx/>
                <a:latin typeface="Inter"/>
                <a:ea typeface="Inter"/>
              </a:rPr>
              <a:t>SOURCE  Ministry of the Environment, Government of Japan · Government of India — MoEFCC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589</Words>
  <Application>Microsoft Office PowerPoint</Application>
  <PresentationFormat>Widescreen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Inter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 INFT (A)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Sayali Andhale</cp:lastModifiedBy>
  <cp:revision>1</cp:revision>
  <dcterms:modified xsi:type="dcterms:W3CDTF">2026-09-22T18:56:37Z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2026-09-22T18:25:11Z</dcterms:created>
  <dc:creator>Sayali Andhale</dc:creator>
  <dc:description/>
  <dc:language>en-US</dc:language>
  <cp:lastModifiedBy>Sayali Andhale</cp:lastModifiedBy>
  <dcterms:modified xsi:type="dcterms:W3CDTF">2026-09-22T18:25:11Z</dcterms:modified>
  <cp:revision>1</cp:revision>
  <dc:subject>Academic presentation on Japan’s e-waste management system</dc:subject>
  <dc:title>JAPAN’S E-WASTE MANAGEMENT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